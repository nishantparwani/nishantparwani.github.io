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5"/>
  </p:notesMasterIdLst>
  <p:sldIdLst>
    <p:sldId id="256" r:id="rId2"/>
    <p:sldId id="287" r:id="rId3"/>
    <p:sldId id="258" r:id="rId4"/>
    <p:sldId id="286" r:id="rId5"/>
    <p:sldId id="263" r:id="rId6"/>
    <p:sldId id="283" r:id="rId7"/>
    <p:sldId id="293" r:id="rId8"/>
    <p:sldId id="288" r:id="rId9"/>
    <p:sldId id="292" r:id="rId10"/>
    <p:sldId id="289" r:id="rId11"/>
    <p:sldId id="264" r:id="rId12"/>
    <p:sldId id="265" r:id="rId13"/>
    <p:sldId id="267" r:id="rId14"/>
    <p:sldId id="284" r:id="rId15"/>
    <p:sldId id="269" r:id="rId16"/>
    <p:sldId id="259" r:id="rId17"/>
    <p:sldId id="261" r:id="rId18"/>
    <p:sldId id="262" r:id="rId19"/>
    <p:sldId id="275" r:id="rId20"/>
    <p:sldId id="285" r:id="rId21"/>
    <p:sldId id="291" r:id="rId22"/>
    <p:sldId id="290" r:id="rId23"/>
    <p:sldId id="282" r:id="rId24"/>
  </p:sldIdLst>
  <p:sldSz cx="18288000" cy="10287000"/>
  <p:notesSz cx="6858000" cy="9144000"/>
  <p:embeddedFontLst>
    <p:embeddedFont>
      <p:font typeface="Algerian" panose="04020705040A02060702" pitchFamily="82" charset="0"/>
      <p:regular r:id="rId26"/>
    </p:embeddedFont>
    <p:embeddedFont>
      <p:font typeface="Nyutro Sans" panose="020B0604020202020204" charset="0"/>
      <p:regular r:id="rId27"/>
    </p:embeddedFont>
    <p:embeddedFont>
      <p:font typeface="Nyutro Sans Bold" panose="020B0604020202020204" charset="0"/>
      <p:regular r:id="rId28"/>
    </p:embeddedFont>
    <p:embeddedFont>
      <p:font typeface="Nyutro Sans Heavy" panose="020B0604020202020204" charset="0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1F3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294" y="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2A2E86-9F53-42C7-BB4B-AC1A855857C2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7C93BE-A449-4DC2-89FE-284FB53DA5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70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7C93BE-A449-4DC2-89FE-284FB53DA5B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2344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963400" y="400050"/>
            <a:ext cx="6148389" cy="9486900"/>
            <a:chOff x="0" y="0"/>
            <a:chExt cx="1863594" cy="278284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63594" cy="2782841"/>
            </a:xfrm>
            <a:custGeom>
              <a:avLst/>
              <a:gdLst/>
              <a:ahLst/>
              <a:cxnLst/>
              <a:rect l="l" t="t" r="r" b="b"/>
              <a:pathLst>
                <a:path w="1863594" h="2782841">
                  <a:moveTo>
                    <a:pt x="1376152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2605167"/>
                  </a:lnTo>
                  <a:cubicBezTo>
                    <a:pt x="0" y="2703293"/>
                    <a:pt x="79547" y="2782840"/>
                    <a:pt x="177673" y="2782840"/>
                  </a:cubicBezTo>
                  <a:lnTo>
                    <a:pt x="1685921" y="2782840"/>
                  </a:lnTo>
                  <a:cubicBezTo>
                    <a:pt x="1784047" y="2782840"/>
                    <a:pt x="1863594" y="2703293"/>
                    <a:pt x="1863594" y="2605167"/>
                  </a:cubicBezTo>
                  <a:lnTo>
                    <a:pt x="1863594" y="523958"/>
                  </a:lnTo>
                  <a:cubicBezTo>
                    <a:pt x="1863594" y="480251"/>
                    <a:pt x="1847484" y="438079"/>
                    <a:pt x="1818345" y="405503"/>
                  </a:cubicBezTo>
                  <a:lnTo>
                    <a:pt x="1508568" y="59214"/>
                  </a:lnTo>
                  <a:cubicBezTo>
                    <a:pt x="1474864" y="21536"/>
                    <a:pt x="1426705" y="0"/>
                    <a:pt x="1376152" y="0"/>
                  </a:cubicBezTo>
                  <a:close/>
                </a:path>
              </a:pathLst>
            </a:custGeom>
            <a:blipFill>
              <a:blip r:embed="rId2"/>
              <a:stretch>
                <a:fillRect t="-162" b="-162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381000" y="1446456"/>
            <a:ext cx="10948989" cy="6316870"/>
            <a:chOff x="-76200" y="1882664"/>
            <a:chExt cx="14598652" cy="8422492"/>
          </a:xfrm>
        </p:grpSpPr>
        <p:sp>
          <p:nvSpPr>
            <p:cNvPr id="5" name="TextBox 5"/>
            <p:cNvSpPr txBox="1"/>
            <p:nvPr/>
          </p:nvSpPr>
          <p:spPr>
            <a:xfrm>
              <a:off x="-76200" y="1882664"/>
              <a:ext cx="14598652" cy="377539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algn="ctr"/>
              <a:r>
                <a:rPr lang="en-US" sz="9600" b="1" dirty="0">
                  <a:solidFill>
                    <a:srgbClr val="FFFF00"/>
                  </a:solidFill>
                  <a:latin typeface="Algerian" panose="04020705040A02060702" pitchFamily="82" charset="0"/>
                  <a:cs typeface="Nyutro Sans Heavy" panose="020B0604020202020204" charset="0"/>
                </a:rPr>
                <a:t>Mumbai’s Miles, </a:t>
              </a:r>
              <a:r>
                <a:rPr lang="en-US" sz="8800" b="1" dirty="0">
                  <a:solidFill>
                    <a:srgbClr val="FFFF00"/>
                  </a:solidFill>
                  <a:latin typeface="Algerian" panose="04020705040A02060702" pitchFamily="82" charset="0"/>
                  <a:cs typeface="Nyutro Sans Heavy" panose="020B0604020202020204" charset="0"/>
                </a:rPr>
                <a:t>Mumbaikar’s Minds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684463" y="6781799"/>
              <a:ext cx="9077325" cy="352335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lvl="0" algn="ctr">
                <a:lnSpc>
                  <a:spcPts val="4200"/>
                </a:lnSpc>
              </a:pPr>
              <a:r>
                <a:rPr lang="en-US" sz="2800" spc="-60" dirty="0">
                  <a:solidFill>
                    <a:schemeClr val="bg1"/>
                  </a:solidFill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Submitted To:</a:t>
              </a:r>
            </a:p>
            <a:p>
              <a:pPr lvl="0" algn="ctr">
                <a:lnSpc>
                  <a:spcPts val="4200"/>
                </a:lnSpc>
              </a:pPr>
              <a:r>
                <a:rPr lang="en-US" sz="2800" spc="-60" dirty="0">
                  <a:solidFill>
                    <a:schemeClr val="bg1"/>
                  </a:solidFill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 Prof Mahesh Naik</a:t>
              </a:r>
            </a:p>
            <a:p>
              <a:pPr lvl="0" algn="ctr">
                <a:lnSpc>
                  <a:spcPts val="4200"/>
                </a:lnSpc>
              </a:pPr>
              <a:endParaRPr lang="en-US" sz="2800" spc="-60" dirty="0">
                <a:solidFill>
                  <a:schemeClr val="bg1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endParaRPr>
            </a:p>
            <a:p>
              <a:pPr lvl="0" algn="ctr">
                <a:lnSpc>
                  <a:spcPts val="4200"/>
                </a:lnSpc>
              </a:pPr>
              <a:r>
                <a:rPr lang="en-US" sz="2800" spc="-60" dirty="0">
                  <a:solidFill>
                    <a:schemeClr val="bg1"/>
                  </a:solidFill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Submitted by:</a:t>
              </a:r>
            </a:p>
            <a:p>
              <a:pPr lvl="0" algn="ctr">
                <a:lnSpc>
                  <a:spcPts val="4200"/>
                </a:lnSpc>
              </a:pPr>
              <a:r>
                <a:rPr lang="en-US" sz="2800" spc="-60">
                  <a:solidFill>
                    <a:schemeClr val="bg1"/>
                  </a:solidFill>
                  <a:latin typeface="Times New Roman" panose="02020603050405020304" pitchFamily="18" charset="0"/>
                  <a:ea typeface="Nyutro Sans"/>
                  <a:cs typeface="Times New Roman" panose="02020603050405020304" pitchFamily="18" charset="0"/>
                  <a:sym typeface="Nyutro Sans"/>
                </a:rPr>
                <a:t>Nishant Parwani</a:t>
              </a:r>
              <a:endParaRPr lang="en-US" sz="2800" spc="-60" dirty="0">
                <a:solidFill>
                  <a:schemeClr val="bg1"/>
                </a:solidFill>
                <a:latin typeface="Times New Roman" panose="02020603050405020304" pitchFamily="18" charset="0"/>
                <a:ea typeface="Nyutro Sans"/>
                <a:cs typeface="Times New Roman" panose="02020603050405020304" pitchFamily="18" charset="0"/>
                <a:sym typeface="Nyutro Sans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F3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4956A9-3437-D19B-20E7-3ED677409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A2F4A40E-F4AA-3F4A-B540-B13BEB8798A5}"/>
              </a:ext>
            </a:extLst>
          </p:cNvPr>
          <p:cNvGrpSpPr/>
          <p:nvPr/>
        </p:nvGrpSpPr>
        <p:grpSpPr>
          <a:xfrm>
            <a:off x="1788526" y="1866899"/>
            <a:ext cx="15392400" cy="7677151"/>
            <a:chOff x="-131780" y="-9525"/>
            <a:chExt cx="2324333" cy="1897829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E124A84D-A4B2-8A20-0FBA-5FD3EC513162}"/>
                </a:ext>
              </a:extLst>
            </p:cNvPr>
            <p:cNvSpPr/>
            <p:nvPr/>
          </p:nvSpPr>
          <p:spPr>
            <a:xfrm>
              <a:off x="-131780" y="1805"/>
              <a:ext cx="2192553" cy="1886499"/>
            </a:xfrm>
            <a:custGeom>
              <a:avLst/>
              <a:gdLst/>
              <a:ahLst/>
              <a:cxnLst/>
              <a:rect l="l" t="t" r="r" b="b"/>
              <a:pathLst>
                <a:path w="2192553" h="1886499">
                  <a:moveTo>
                    <a:pt x="23249" y="0"/>
                  </a:moveTo>
                  <a:lnTo>
                    <a:pt x="2169304" y="0"/>
                  </a:lnTo>
                  <a:cubicBezTo>
                    <a:pt x="2182144" y="0"/>
                    <a:pt x="2192553" y="10409"/>
                    <a:pt x="2192553" y="23249"/>
                  </a:cubicBezTo>
                  <a:lnTo>
                    <a:pt x="2192553" y="1863249"/>
                  </a:lnTo>
                  <a:cubicBezTo>
                    <a:pt x="2192553" y="1876090"/>
                    <a:pt x="2182144" y="1886499"/>
                    <a:pt x="2169304" y="1886499"/>
                  </a:cubicBezTo>
                  <a:lnTo>
                    <a:pt x="23249" y="1886499"/>
                  </a:lnTo>
                  <a:cubicBezTo>
                    <a:pt x="10409" y="1886499"/>
                    <a:pt x="0" y="1876090"/>
                    <a:pt x="0" y="1863249"/>
                  </a:cubicBezTo>
                  <a:lnTo>
                    <a:pt x="0" y="23249"/>
                  </a:lnTo>
                  <a:cubicBezTo>
                    <a:pt x="0" y="10409"/>
                    <a:pt x="10409" y="0"/>
                    <a:pt x="23249" y="0"/>
                  </a:cubicBezTo>
                  <a:close/>
                </a:path>
              </a:pathLst>
            </a:custGeom>
            <a:solidFill>
              <a:srgbClr val="FFDC00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B9EB5256-EAF5-A6C0-BA5D-D21C1221B716}"/>
                </a:ext>
              </a:extLst>
            </p:cNvPr>
            <p:cNvSpPr txBox="1"/>
            <p:nvPr/>
          </p:nvSpPr>
          <p:spPr>
            <a:xfrm>
              <a:off x="0" y="-9525"/>
              <a:ext cx="2192553" cy="18960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182683D5-DD96-6535-B186-7039039D5986}"/>
              </a:ext>
            </a:extLst>
          </p:cNvPr>
          <p:cNvSpPr txBox="1"/>
          <p:nvPr/>
        </p:nvSpPr>
        <p:spPr>
          <a:xfrm>
            <a:off x="666750" y="742950"/>
            <a:ext cx="16954500" cy="1067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00"/>
              </a:lnSpc>
              <a:spcBef>
                <a:spcPct val="0"/>
              </a:spcBef>
            </a:pPr>
            <a:r>
              <a:rPr lang="en-US" sz="9000" b="1" spc="-89" dirty="0">
                <a:solidFill>
                  <a:srgbClr val="FFDC00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Table-Of-Content</a:t>
            </a:r>
            <a:endParaRPr lang="en-US" sz="9000" b="1" u="none" strike="noStrike" spc="-89" dirty="0">
              <a:solidFill>
                <a:srgbClr val="FFDC00"/>
              </a:solidFill>
              <a:latin typeface="Nyutro Sans Heavy"/>
              <a:ea typeface="Nyutro Sans Heavy"/>
              <a:cs typeface="Nyutro Sans Heavy"/>
              <a:sym typeface="Nyutro Sans Heavy"/>
            </a:endParaRPr>
          </a:p>
        </p:txBody>
      </p:sp>
      <p:grpSp>
        <p:nvGrpSpPr>
          <p:cNvPr id="12" name="Group 12">
            <a:extLst>
              <a:ext uri="{FF2B5EF4-FFF2-40B4-BE49-F238E27FC236}">
                <a16:creationId xmlns:a16="http://schemas.microsoft.com/office/drawing/2014/main" id="{102C2C7C-2C0C-8CD0-B21A-5E8592ECB0DC}"/>
              </a:ext>
            </a:extLst>
          </p:cNvPr>
          <p:cNvGrpSpPr/>
          <p:nvPr/>
        </p:nvGrpSpPr>
        <p:grpSpPr>
          <a:xfrm>
            <a:off x="1999162" y="1276750"/>
            <a:ext cx="14098441" cy="7982955"/>
            <a:chOff x="-3232293" y="-2137916"/>
            <a:chExt cx="12302529" cy="10643937"/>
          </a:xfrm>
        </p:grpSpPr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8D2ECB61-8C98-FFD9-10CA-8F1C55E012CE}"/>
                </a:ext>
              </a:extLst>
            </p:cNvPr>
            <p:cNvSpPr txBox="1"/>
            <p:nvPr/>
          </p:nvSpPr>
          <p:spPr>
            <a:xfrm>
              <a:off x="-332467" y="-36084"/>
              <a:ext cx="7264400" cy="94897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400"/>
                </a:lnSpc>
              </a:pPr>
              <a:endParaRPr lang="en-US" sz="6000" b="1" spc="-60" dirty="0">
                <a:solidFill>
                  <a:srgbClr val="001F3F"/>
                </a:solidFill>
                <a:latin typeface="Nyutro Sans Bold"/>
                <a:ea typeface="Nyutro Sans Bold"/>
                <a:cs typeface="Nyutro Sans Bold"/>
                <a:sym typeface="Nyutro Sans Bold"/>
              </a:endParaRP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1F178531-4660-6F30-A8A2-188A36802B6B}"/>
                </a:ext>
              </a:extLst>
            </p:cNvPr>
            <p:cNvSpPr txBox="1"/>
            <p:nvPr/>
          </p:nvSpPr>
          <p:spPr>
            <a:xfrm>
              <a:off x="-3232293" y="-2137916"/>
              <a:ext cx="12302529" cy="1064393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indent="-457200" algn="ctr">
                <a:buFont typeface="Arial" panose="020B0604020202020204" pitchFamily="34" charset="0"/>
                <a:buChar char="•"/>
              </a:pPr>
              <a:endParaRPr lang="en-US" sz="2500" dirty="0">
                <a:solidFill>
                  <a:srgbClr val="001F3F"/>
                </a:solidFill>
                <a:latin typeface="Algerian" panose="04020705040A02060702" pitchFamily="82" charset="0"/>
                <a:ea typeface="Artifakt Element Black" panose="020B0A03050000020004" pitchFamily="34" charset="0"/>
              </a:endParaRPr>
            </a:p>
            <a:p>
              <a:pPr algn="ctr">
                <a:lnSpc>
                  <a:spcPct val="200000"/>
                </a:lnSpc>
              </a:pPr>
              <a:r>
                <a:rPr lang="en-US" sz="2500" dirty="0">
                  <a:solidFill>
                    <a:srgbClr val="001F3F"/>
                  </a:solidFill>
                  <a:latin typeface="Algerian" panose="04020705040A02060702" pitchFamily="82" charset="0"/>
                  <a:ea typeface="Artifakt Element Black" panose="020B0A03050000020004" pitchFamily="34" charset="0"/>
                </a:rPr>
                <a:t>1.  Introduction &amp; Goals – Project purpose and methodology.</a:t>
              </a:r>
            </a:p>
            <a:p>
              <a:pPr algn="ctr">
                <a:lnSpc>
                  <a:spcPct val="200000"/>
                </a:lnSpc>
              </a:pPr>
              <a:r>
                <a:rPr lang="en-US" sz="2500" dirty="0">
                  <a:solidFill>
                    <a:srgbClr val="001F3F"/>
                  </a:solidFill>
                  <a:latin typeface="Algerian" panose="04020705040A02060702" pitchFamily="82" charset="0"/>
                  <a:ea typeface="Artifakt Element Black" panose="020B0A03050000020004" pitchFamily="34" charset="0"/>
                </a:rPr>
                <a:t>2.  Top Satisfaction Driver – Overwhelming importance of station access.</a:t>
              </a:r>
            </a:p>
            <a:p>
              <a:pPr algn="ctr">
                <a:lnSpc>
                  <a:spcPct val="200000"/>
                </a:lnSpc>
              </a:pPr>
              <a:r>
                <a:rPr lang="en-US" sz="2500" dirty="0">
                  <a:solidFill>
                    <a:srgbClr val="001F3F"/>
                  </a:solidFill>
                  <a:latin typeface="Algerian" panose="04020705040A02060702" pitchFamily="82" charset="0"/>
                  <a:ea typeface="Artifakt Element Black" panose="020B0A03050000020004" pitchFamily="34" charset="0"/>
                </a:rPr>
                <a:t>3.  Key Predictors – Seat availability and digital payment trends.</a:t>
              </a:r>
            </a:p>
            <a:p>
              <a:pPr algn="ctr">
                <a:lnSpc>
                  <a:spcPct val="200000"/>
                </a:lnSpc>
              </a:pPr>
              <a:r>
                <a:rPr lang="en-US" sz="2500" dirty="0">
                  <a:solidFill>
                    <a:srgbClr val="001F3F"/>
                  </a:solidFill>
                  <a:latin typeface="Algerian" panose="04020705040A02060702" pitchFamily="82" charset="0"/>
                  <a:ea typeface="Artifakt Element Black" panose="020B0A03050000020004" pitchFamily="34" charset="0"/>
                </a:rPr>
                <a:t>4.  Commuter Profiles – Identified traveler types and their priorities.</a:t>
              </a:r>
            </a:p>
            <a:p>
              <a:pPr algn="ctr">
                <a:lnSpc>
                  <a:spcPct val="200000"/>
                </a:lnSpc>
              </a:pPr>
              <a:r>
                <a:rPr lang="en-US" sz="2500" dirty="0">
                  <a:solidFill>
                    <a:srgbClr val="001F3F"/>
                  </a:solidFill>
                  <a:latin typeface="Algerian" panose="04020705040A02060702" pitchFamily="82" charset="0"/>
                  <a:ea typeface="Artifakt Element Black" panose="020B0A03050000020004" pitchFamily="34" charset="0"/>
                </a:rPr>
                <a:t>5.  Multimodal Travelers – Higher satisfaction and the value of flexibility.</a:t>
              </a:r>
            </a:p>
            <a:p>
              <a:pPr algn="ctr">
                <a:lnSpc>
                  <a:spcPct val="200000"/>
                </a:lnSpc>
              </a:pPr>
              <a:r>
                <a:rPr lang="en-US" sz="2500" dirty="0">
                  <a:solidFill>
                    <a:srgbClr val="001F3F"/>
                  </a:solidFill>
                  <a:latin typeface="Algerian" panose="04020705040A02060702" pitchFamily="82" charset="0"/>
                  <a:ea typeface="Artifakt Element Black" panose="020B0A03050000020004" pitchFamily="34" charset="0"/>
                </a:rPr>
                <a:t>6.  The Perception Gap – High service ratings vs. low overall satisfaction.</a:t>
              </a:r>
            </a:p>
            <a:p>
              <a:pPr algn="ctr">
                <a:lnSpc>
                  <a:spcPct val="200000"/>
                </a:lnSpc>
              </a:pPr>
              <a:r>
                <a:rPr lang="en-US" sz="2500" dirty="0">
                  <a:solidFill>
                    <a:srgbClr val="001F3F"/>
                  </a:solidFill>
                  <a:latin typeface="Algerian" panose="04020705040A02060702" pitchFamily="82" charset="0"/>
                  <a:ea typeface="Artifakt Element Black" panose="020B0A03050000020004" pitchFamily="34" charset="0"/>
                </a:rPr>
                <a:t>7.  Special Finding: Daily Commuters – They do not adapt to discomfort.</a:t>
              </a:r>
            </a:p>
            <a:p>
              <a:pPr algn="ctr">
                <a:lnSpc>
                  <a:spcPct val="200000"/>
                </a:lnSpc>
              </a:pPr>
              <a:r>
                <a:rPr lang="en-US" sz="2500" dirty="0">
                  <a:solidFill>
                    <a:srgbClr val="001F3F"/>
                  </a:solidFill>
                  <a:latin typeface="Algerian" panose="04020705040A02060702" pitchFamily="82" charset="0"/>
                  <a:ea typeface="Artifakt Element Black" panose="020B0A03050000020004" pitchFamily="34" charset="0"/>
                </a:rPr>
                <a:t>8.  Special Finding: Payment Choice – Driven by habit, not satisfaction.</a:t>
              </a:r>
            </a:p>
            <a:p>
              <a:pPr algn="ctr">
                <a:lnSpc>
                  <a:spcPct val="200000"/>
                </a:lnSpc>
              </a:pPr>
              <a:r>
                <a:rPr lang="en-US" sz="2500" dirty="0">
                  <a:solidFill>
                    <a:srgbClr val="001F3F"/>
                  </a:solidFill>
                  <a:latin typeface="Algerian" panose="04020705040A02060702" pitchFamily="82" charset="0"/>
                  <a:ea typeface="Artifakt Element Black" panose="020B0A03050000020004" pitchFamily="34" charset="0"/>
                </a:rPr>
                <a:t>9.  Core Takeaways – Summary of critical insights.</a:t>
              </a:r>
            </a:p>
            <a:p>
              <a:pPr algn="ctr">
                <a:lnSpc>
                  <a:spcPct val="200000"/>
                </a:lnSpc>
              </a:pPr>
              <a:r>
                <a:rPr lang="en-US" sz="2500" dirty="0">
                  <a:solidFill>
                    <a:srgbClr val="001F3F"/>
                  </a:solidFill>
                  <a:latin typeface="Algerian" panose="04020705040A02060702" pitchFamily="82" charset="0"/>
                  <a:ea typeface="Artifakt Element Black" panose="020B0A03050000020004" pitchFamily="34" charset="0"/>
                </a:rPr>
                <a:t>10. Conclusion &amp; Techniques – Final note and methods used.</a:t>
              </a:r>
              <a:endParaRPr lang="en-US" sz="2500" u="none" strike="noStrike" dirty="0">
                <a:solidFill>
                  <a:srgbClr val="001F3F"/>
                </a:solidFill>
                <a:latin typeface="Algerian" panose="04020705040A02060702" pitchFamily="82" charset="0"/>
                <a:ea typeface="Artifakt Element Black" panose="020B0A03050000020004" pitchFamily="34" charset="0"/>
                <a:cs typeface="Nyutro Sans"/>
                <a:sym typeface="Nyutro Sans"/>
              </a:endParaRPr>
            </a:p>
          </p:txBody>
        </p:sp>
      </p:grpSp>
      <p:sp>
        <p:nvSpPr>
          <p:cNvPr id="17" name="Freeform 7">
            <a:extLst>
              <a:ext uri="{FF2B5EF4-FFF2-40B4-BE49-F238E27FC236}">
                <a16:creationId xmlns:a16="http://schemas.microsoft.com/office/drawing/2014/main" id="{58260AAD-23A6-D921-2A5D-A00EBF22A962}"/>
              </a:ext>
            </a:extLst>
          </p:cNvPr>
          <p:cNvSpPr/>
          <p:nvPr/>
        </p:nvSpPr>
        <p:spPr>
          <a:xfrm rot="373106">
            <a:off x="15726639" y="-14435"/>
            <a:ext cx="2527481" cy="2518290"/>
          </a:xfrm>
          <a:custGeom>
            <a:avLst/>
            <a:gdLst/>
            <a:ahLst/>
            <a:cxnLst/>
            <a:rect l="l" t="t" r="r" b="b"/>
            <a:pathLst>
              <a:path w="2527481" h="2518290">
                <a:moveTo>
                  <a:pt x="0" y="0"/>
                </a:moveTo>
                <a:lnTo>
                  <a:pt x="2527481" y="0"/>
                </a:lnTo>
                <a:lnTo>
                  <a:pt x="2527481" y="2518290"/>
                </a:lnTo>
                <a:lnTo>
                  <a:pt x="0" y="2518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382130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C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-8446" y="193375"/>
            <a:ext cx="18304892" cy="1067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100"/>
              </a:lnSpc>
            </a:pPr>
            <a:r>
              <a:rPr lang="en-US" sz="9000" b="1" spc="-89" dirty="0">
                <a:solidFill>
                  <a:srgbClr val="001F3F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Introduction  </a:t>
            </a:r>
            <a:endParaRPr lang="en-US" sz="9000" b="1" spc="-89" dirty="0">
              <a:solidFill>
                <a:srgbClr val="001F3F"/>
              </a:solidFill>
              <a:latin typeface="Nyutro Sans Heavy"/>
              <a:ea typeface="Nyutro Sans Heavy"/>
              <a:cs typeface="Nyutro Sans Heavy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A66066-0264-F7B4-E144-E3BFFD350D08}"/>
              </a:ext>
            </a:extLst>
          </p:cNvPr>
          <p:cNvSpPr txBox="1"/>
          <p:nvPr/>
        </p:nvSpPr>
        <p:spPr>
          <a:xfrm>
            <a:off x="-32318" y="1260754"/>
            <a:ext cx="18374206" cy="80945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en-US" sz="4000" dirty="0">
                <a:solidFill>
                  <a:schemeClr val="tx2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Purpose : To understand passenger satisfaction in Mumbai's Public Transport System . </a:t>
            </a:r>
          </a:p>
          <a:p>
            <a:endParaRPr lang="en-US" sz="4000" dirty="0">
              <a:solidFill>
                <a:schemeClr val="tx2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285750" indent="-285750">
              <a:buFont typeface="Wingdings"/>
              <a:buChar char="Ø"/>
            </a:pPr>
            <a:r>
              <a:rPr lang="en-US" sz="4000" dirty="0">
                <a:solidFill>
                  <a:schemeClr val="tx2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Dataset :  We have used 253 Commuter Survey Responses . </a:t>
            </a:r>
          </a:p>
          <a:p>
            <a:endParaRPr lang="en-US" sz="4000" dirty="0">
              <a:solidFill>
                <a:schemeClr val="tx2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285750" indent="-285750">
              <a:buFont typeface="Wingdings"/>
              <a:buChar char="Ø"/>
            </a:pPr>
            <a:r>
              <a:rPr lang="en-US" sz="4000" dirty="0">
                <a:solidFill>
                  <a:schemeClr val="tx2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Methods Used: </a:t>
            </a:r>
          </a:p>
          <a:p>
            <a:r>
              <a:rPr lang="en-US" sz="4000" dirty="0">
                <a:solidFill>
                  <a:schemeClr val="tx2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                                1. Machine Learning : Random forest for prediction </a:t>
            </a:r>
          </a:p>
          <a:p>
            <a:r>
              <a:rPr lang="en-US" sz="4000" dirty="0">
                <a:solidFill>
                  <a:schemeClr val="tx2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                                2. Clustering to identify commuter types. </a:t>
            </a:r>
          </a:p>
          <a:p>
            <a:r>
              <a:rPr lang="en-US" sz="4000" dirty="0">
                <a:solidFill>
                  <a:schemeClr val="tx2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                                3. T-test for comparing the groups. </a:t>
            </a:r>
          </a:p>
          <a:p>
            <a:endParaRPr lang="en-US" sz="4000" dirty="0">
              <a:solidFill>
                <a:schemeClr val="tx2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285750" indent="-285750">
              <a:buFont typeface="Wingdings"/>
              <a:buChar char="Ø"/>
            </a:pPr>
            <a:r>
              <a:rPr lang="en-US" sz="4000" dirty="0">
                <a:solidFill>
                  <a:schemeClr val="tx2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Goals: </a:t>
            </a:r>
          </a:p>
          <a:p>
            <a:r>
              <a:rPr lang="en-US" sz="4000" dirty="0">
                <a:solidFill>
                  <a:schemeClr val="tx2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                 1.  Identify key satisfaction drivers. </a:t>
            </a:r>
          </a:p>
          <a:p>
            <a:r>
              <a:rPr lang="en-US" sz="4000" dirty="0">
                <a:solidFill>
                  <a:schemeClr val="tx2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                 2. Analyze the Behavior Patterns among commuters.  </a:t>
            </a:r>
          </a:p>
          <a:p>
            <a:r>
              <a:rPr lang="en-US" sz="4000" dirty="0">
                <a:solidFill>
                  <a:schemeClr val="tx2"/>
                </a:solidFill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                 3. Highlight the areas for improvement in services. </a:t>
            </a:r>
          </a:p>
        </p:txBody>
      </p:sp>
      <p:sp>
        <p:nvSpPr>
          <p:cNvPr id="2" name="Freeform 4">
            <a:extLst>
              <a:ext uri="{FF2B5EF4-FFF2-40B4-BE49-F238E27FC236}">
                <a16:creationId xmlns:a16="http://schemas.microsoft.com/office/drawing/2014/main" id="{3B6203CF-1A7F-2F95-8894-AAD3E57F1DA9}"/>
              </a:ext>
            </a:extLst>
          </p:cNvPr>
          <p:cNvSpPr/>
          <p:nvPr/>
        </p:nvSpPr>
        <p:spPr>
          <a:xfrm rot="16200000" flipH="1" flipV="1">
            <a:off x="16098029" y="-172229"/>
            <a:ext cx="2095500" cy="2439960"/>
          </a:xfrm>
          <a:custGeom>
            <a:avLst/>
            <a:gdLst/>
            <a:ahLst/>
            <a:cxnLst/>
            <a:rect l="l" t="t" r="r" b="b"/>
            <a:pathLst>
              <a:path w="3281259" h="3323559">
                <a:moveTo>
                  <a:pt x="3281259" y="3323559"/>
                </a:moveTo>
                <a:lnTo>
                  <a:pt x="0" y="3323559"/>
                </a:lnTo>
                <a:lnTo>
                  <a:pt x="0" y="0"/>
                </a:lnTo>
                <a:lnTo>
                  <a:pt x="3281259" y="0"/>
                </a:lnTo>
                <a:lnTo>
                  <a:pt x="3281259" y="332355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5">
            <a:extLst>
              <a:ext uri="{FF2B5EF4-FFF2-40B4-BE49-F238E27FC236}">
                <a16:creationId xmlns:a16="http://schemas.microsoft.com/office/drawing/2014/main" id="{A4786D87-D732-4A92-092C-02C86E82751C}"/>
              </a:ext>
            </a:extLst>
          </p:cNvPr>
          <p:cNvSpPr/>
          <p:nvPr/>
        </p:nvSpPr>
        <p:spPr>
          <a:xfrm rot="16200000">
            <a:off x="119712" y="7763318"/>
            <a:ext cx="2362615" cy="2920595"/>
          </a:xfrm>
          <a:custGeom>
            <a:avLst/>
            <a:gdLst/>
            <a:ahLst/>
            <a:cxnLst/>
            <a:rect l="l" t="t" r="r" b="b"/>
            <a:pathLst>
              <a:path w="3281259" h="3323559">
                <a:moveTo>
                  <a:pt x="0" y="0"/>
                </a:moveTo>
                <a:lnTo>
                  <a:pt x="3281259" y="0"/>
                </a:lnTo>
                <a:lnTo>
                  <a:pt x="3281259" y="3323559"/>
                </a:lnTo>
                <a:lnTo>
                  <a:pt x="0" y="33235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0DE16DB-08A8-ADF5-4752-F170229AE504}"/>
              </a:ext>
            </a:extLst>
          </p:cNvPr>
          <p:cNvSpPr txBox="1"/>
          <p:nvPr/>
        </p:nvSpPr>
        <p:spPr>
          <a:xfrm>
            <a:off x="-5440" y="210221"/>
            <a:ext cx="1824918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9000" b="1" dirty="0">
                <a:solidFill>
                  <a:srgbClr val="FFFF00"/>
                </a:solidFill>
                <a:latin typeface="Nyutro Sans Bold"/>
                <a:ea typeface="Calibri"/>
                <a:cs typeface="Calibri"/>
              </a:rPr>
              <a:t>Core Satisfaction Drivers </a:t>
            </a:r>
            <a:endParaRPr lang="en-US" sz="9000" b="1" dirty="0"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77C7F8-6308-4062-50CB-FE37B69922DA}"/>
              </a:ext>
            </a:extLst>
          </p:cNvPr>
          <p:cNvSpPr txBox="1"/>
          <p:nvPr/>
        </p:nvSpPr>
        <p:spPr>
          <a:xfrm>
            <a:off x="-10752" y="2096327"/>
            <a:ext cx="18077848" cy="74789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71500" indent="-571500">
              <a:buFont typeface="Wingdings"/>
              <a:buChar char="Ø"/>
            </a:pPr>
            <a:r>
              <a:rPr lang="en-US" sz="4000" dirty="0">
                <a:solidFill>
                  <a:schemeClr val="bg1"/>
                </a:solidFill>
                <a:latin typeface="Nyutro Sans"/>
                <a:ea typeface="Calibri"/>
                <a:cs typeface="Calibri"/>
              </a:rPr>
              <a:t>Station Access dominates satisfaction; it contributes 65% importance, much higher than comfort, punctuality or safety. </a:t>
            </a:r>
          </a:p>
          <a:p>
            <a:endParaRPr lang="en-US" sz="4000" dirty="0">
              <a:solidFill>
                <a:schemeClr val="bg1"/>
              </a:solidFill>
              <a:latin typeface="Nyutro Sans"/>
              <a:ea typeface="+mn-lt"/>
              <a:cs typeface="+mn-lt"/>
            </a:endParaRPr>
          </a:p>
          <a:p>
            <a:pPr marL="571500" indent="-571500">
              <a:buFont typeface="Wingdings"/>
              <a:buChar char="Ø"/>
            </a:pPr>
            <a:r>
              <a:rPr lang="en-US" sz="4000" dirty="0">
                <a:solidFill>
                  <a:schemeClr val="bg1"/>
                </a:solidFill>
                <a:latin typeface="Nyutro Sans"/>
                <a:ea typeface="+mn-lt"/>
                <a:cs typeface="+mn-lt"/>
              </a:rPr>
              <a:t>Comfort and safety alone provide partial insight, predicting satisfaction with 70% accuracy, but are insufficient without good access.</a:t>
            </a:r>
          </a:p>
          <a:p>
            <a:endParaRPr lang="en-US" sz="4000" dirty="0">
              <a:solidFill>
                <a:schemeClr val="bg1"/>
              </a:solidFill>
              <a:latin typeface="Nyutro Sans"/>
              <a:ea typeface="+mn-lt"/>
              <a:cs typeface="+mn-lt"/>
            </a:endParaRPr>
          </a:p>
          <a:p>
            <a:pPr marL="571500" indent="-571500">
              <a:buFont typeface="Wingdings"/>
              <a:buChar char="Ø"/>
            </a:pPr>
            <a:r>
              <a:rPr lang="en-US" sz="4000" dirty="0">
                <a:solidFill>
                  <a:schemeClr val="bg1"/>
                </a:solidFill>
                <a:latin typeface="Nyutro Sans"/>
                <a:ea typeface="+mn-lt"/>
                <a:cs typeface="+mn-lt"/>
              </a:rPr>
              <a:t>Passengers with good access are 2.3× more likely to report high satisfaction (54% vs 23%).</a:t>
            </a:r>
          </a:p>
          <a:p>
            <a:endParaRPr lang="en-US" sz="4000" dirty="0">
              <a:solidFill>
                <a:schemeClr val="bg1"/>
              </a:solidFill>
              <a:latin typeface="Nyutro Sans"/>
              <a:ea typeface="+mn-lt"/>
              <a:cs typeface="+mn-lt"/>
            </a:endParaRPr>
          </a:p>
          <a:p>
            <a:pPr marL="571500" indent="-571500">
              <a:buFont typeface="Wingdings"/>
              <a:buChar char="Ø"/>
            </a:pPr>
            <a:r>
              <a:rPr lang="en-US" sz="4000" dirty="0">
                <a:solidFill>
                  <a:schemeClr val="bg1"/>
                </a:solidFill>
                <a:latin typeface="Nyutro Sans"/>
                <a:ea typeface="+mn-lt"/>
                <a:cs typeface="+mn-lt"/>
              </a:rPr>
              <a:t>Connectivity matters more than in-train quality: even if trains are clean and safe, poor access drastically reduces overall satisfaction.</a:t>
            </a:r>
          </a:p>
          <a:p>
            <a:pPr marL="571500" indent="-571500">
              <a:buFont typeface="Wingdings"/>
              <a:buChar char="Ø"/>
            </a:pPr>
            <a:endParaRPr lang="en-US" sz="4000" dirty="0">
              <a:solidFill>
                <a:schemeClr val="bg1"/>
              </a:solidFill>
              <a:latin typeface="Nyutro Sans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83583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236883" y="647700"/>
            <a:ext cx="11814234" cy="410689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8100"/>
              </a:lnSpc>
              <a:spcBef>
                <a:spcPct val="0"/>
              </a:spcBef>
            </a:pPr>
            <a:r>
              <a:rPr lang="en-IN" sz="9600" dirty="0">
                <a:solidFill>
                  <a:srgbClr val="FFFF00"/>
                </a:solidFill>
                <a:latin typeface="Nyutro Sans"/>
                <a:cs typeface="Nyutro Sans"/>
              </a:rPr>
              <a:t>Demographic &amp; Behavioural Insights - </a:t>
            </a:r>
            <a:r>
              <a:rPr lang="en-IN" sz="6600" dirty="0">
                <a:solidFill>
                  <a:srgbClr val="FFFF00"/>
                </a:solidFill>
                <a:latin typeface="Nyutro Sans"/>
                <a:cs typeface="Nyutro Sans"/>
              </a:rPr>
              <a:t>Understanding Commuter Profiles</a:t>
            </a:r>
            <a:endParaRPr lang="en-US" sz="6600" b="1" u="none" strike="noStrike" spc="-89" dirty="0">
              <a:solidFill>
                <a:srgbClr val="FFFF00"/>
              </a:solidFill>
              <a:latin typeface="Nyutro Sans"/>
              <a:ea typeface="Nyutro Sans Heavy"/>
              <a:cs typeface="Nyutro Sans"/>
            </a:endParaRP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EF37344F-8260-0C2B-60FB-5651713E4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1971" y="5191899"/>
            <a:ext cx="1182405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algn="ctr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3600" dirty="0">
                <a:solidFill>
                  <a:schemeClr val="bg1"/>
                </a:solidFill>
                <a:latin typeface="Nyutro Sans"/>
                <a:cs typeface="Nyutro Sans"/>
              </a:rPr>
              <a:t>Occupation prediction </a:t>
            </a: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yutro Sans"/>
                <a:cs typeface="Arial"/>
              </a:rPr>
              <a:t>Low (41%) → travel patterns overlap across jobs</a:t>
            </a:r>
            <a:b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yutro Sans"/>
                <a:cs typeface="Arial"/>
              </a:rPr>
            </a:b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yutro Sans"/>
                <a:cs typeface="Arial"/>
              </a:rPr>
              <a:t>Seat availability → Highly predictable (96%) → depends on route &amp; time</a:t>
            </a:r>
            <a:endParaRPr lang="en-US" altLang="en-US" sz="3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yutro Sans"/>
              <a:cs typeface="Arial"/>
            </a:endParaRPr>
          </a:p>
          <a:p>
            <a:pPr marL="457200" marR="0" lvl="0" indent="-45720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yutro Sans"/>
                <a:cs typeface="Arial"/>
              </a:rPr>
              <a:t>Digital payment → Demographics matter (78%) → young = digital, old = cash</a:t>
            </a:r>
            <a:endParaRPr lang="en-US" altLang="en-US" sz="3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yutro Sans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A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4C9AE0-2523-929C-C431-5721664EE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6662B464-B202-F09A-2056-382B39C046BF}"/>
              </a:ext>
            </a:extLst>
          </p:cNvPr>
          <p:cNvSpPr txBox="1"/>
          <p:nvPr/>
        </p:nvSpPr>
        <p:spPr>
          <a:xfrm>
            <a:off x="3886200" y="723900"/>
            <a:ext cx="10153650" cy="41161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8100"/>
              </a:lnSpc>
              <a:spcBef>
                <a:spcPct val="0"/>
              </a:spcBef>
            </a:pPr>
            <a:r>
              <a:rPr lang="en-IN" sz="9600" dirty="0">
                <a:solidFill>
                  <a:srgbClr val="FFFF00"/>
                </a:solidFill>
              </a:rPr>
              <a:t>Demographic &amp; Behavioural Insights -</a:t>
            </a:r>
            <a:r>
              <a:rPr lang="en-US" sz="6600" dirty="0">
                <a:solidFill>
                  <a:srgbClr val="FFFF00"/>
                </a:solidFill>
              </a:rPr>
              <a:t>What Do These Behaviors Tell Us?</a:t>
            </a:r>
            <a:endParaRPr lang="en-US" sz="6600" b="1" u="none" strike="noStrike" spc="-89" dirty="0">
              <a:solidFill>
                <a:srgbClr val="FFFF00"/>
              </a:solidFill>
              <a:latin typeface="Nyutro Sans Heavy"/>
              <a:ea typeface="Nyutro Sans Heavy"/>
              <a:cs typeface="Nyutro Sans Heavy"/>
              <a:sym typeface="Nyutro Sans Heavy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1AF55A6-36A3-AFD0-C5D2-D99886A521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98924" y="6101307"/>
            <a:ext cx="10702925" cy="24006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Shared pain points: crowding &amp; access affect everyone equally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Predictability helps in optimizing schedules &amp; promoting UPI adoption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Focus: Smart scheduling + digital inclusion initiatives</a:t>
            </a:r>
          </a:p>
        </p:txBody>
      </p:sp>
    </p:spTree>
    <p:extLst>
      <p:ext uri="{BB962C8B-B14F-4D97-AF65-F5344CB8AC3E}">
        <p14:creationId xmlns:p14="http://schemas.microsoft.com/office/powerpoint/2010/main" val="18908522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A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7E5910-12AD-E5C6-4EC7-DF3BEFEA5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88DA10E0-AEEE-2E33-D836-0EB7A26A8E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948" y="2014214"/>
            <a:ext cx="9284268" cy="572317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4A86083-2D25-F102-CAC9-A086DD43D5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56"/>
          <a:stretch>
            <a:fillRect/>
          </a:stretch>
        </p:blipFill>
        <p:spPr>
          <a:xfrm>
            <a:off x="10896600" y="1028700"/>
            <a:ext cx="6675088" cy="7694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335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A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7A6060-9165-46A9-9BD5-641D10251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F3A5680-AC1B-1AE4-B9B8-1CF6A5907D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00" y="2476500"/>
            <a:ext cx="10370873" cy="4532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449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A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D0C838-8B3F-DCD9-CD58-39AC78CCB7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1A9FB855-2757-6E20-91F6-8CA4FF33A6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32661" y="2255133"/>
            <a:ext cx="10022678" cy="5776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190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A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D80C64-D38D-04D4-F20F-84C335F37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5BCC3C3-1D2C-3586-B83E-2133913836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4283" y="493595"/>
            <a:ext cx="7142443" cy="45110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0F0CC17-87DE-7950-0980-7D29FCED41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3333" y="5448300"/>
            <a:ext cx="7200981" cy="409597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6FE7EBC-1EC1-E047-B883-92520E8B6F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2444303"/>
            <a:ext cx="7296381" cy="5398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694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C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1" y="2520330"/>
            <a:ext cx="8324850" cy="7198965"/>
            <a:chOff x="0" y="-9525"/>
            <a:chExt cx="2192553" cy="18960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2553" cy="1886499"/>
            </a:xfrm>
            <a:custGeom>
              <a:avLst/>
              <a:gdLst/>
              <a:ahLst/>
              <a:cxnLst/>
              <a:rect l="l" t="t" r="r" b="b"/>
              <a:pathLst>
                <a:path w="2192553" h="1886499">
                  <a:moveTo>
                    <a:pt x="23249" y="0"/>
                  </a:moveTo>
                  <a:lnTo>
                    <a:pt x="2169304" y="0"/>
                  </a:lnTo>
                  <a:cubicBezTo>
                    <a:pt x="2182144" y="0"/>
                    <a:pt x="2192553" y="10409"/>
                    <a:pt x="2192553" y="23249"/>
                  </a:cubicBezTo>
                  <a:lnTo>
                    <a:pt x="2192553" y="1863249"/>
                  </a:lnTo>
                  <a:cubicBezTo>
                    <a:pt x="2192553" y="1876090"/>
                    <a:pt x="2182144" y="1886499"/>
                    <a:pt x="2169304" y="1886499"/>
                  </a:cubicBezTo>
                  <a:lnTo>
                    <a:pt x="23249" y="1886499"/>
                  </a:lnTo>
                  <a:cubicBezTo>
                    <a:pt x="10409" y="1886499"/>
                    <a:pt x="0" y="1876090"/>
                    <a:pt x="0" y="1863249"/>
                  </a:cubicBezTo>
                  <a:lnTo>
                    <a:pt x="0" y="23249"/>
                  </a:lnTo>
                  <a:cubicBezTo>
                    <a:pt x="0" y="10409"/>
                    <a:pt x="10409" y="0"/>
                    <a:pt x="23249" y="0"/>
                  </a:cubicBezTo>
                  <a:close/>
                </a:path>
              </a:pathLst>
            </a:custGeom>
            <a:solidFill>
              <a:srgbClr val="001F3F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192553" cy="18960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509730" y="2558430"/>
            <a:ext cx="8324850" cy="7162800"/>
            <a:chOff x="0" y="0"/>
            <a:chExt cx="2192553" cy="188649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2553" cy="1886499"/>
            </a:xfrm>
            <a:custGeom>
              <a:avLst/>
              <a:gdLst/>
              <a:ahLst/>
              <a:cxnLst/>
              <a:rect l="l" t="t" r="r" b="b"/>
              <a:pathLst>
                <a:path w="2192553" h="1886499">
                  <a:moveTo>
                    <a:pt x="23249" y="0"/>
                  </a:moveTo>
                  <a:lnTo>
                    <a:pt x="2169304" y="0"/>
                  </a:lnTo>
                  <a:cubicBezTo>
                    <a:pt x="2182144" y="0"/>
                    <a:pt x="2192553" y="10409"/>
                    <a:pt x="2192553" y="23249"/>
                  </a:cubicBezTo>
                  <a:lnTo>
                    <a:pt x="2192553" y="1863249"/>
                  </a:lnTo>
                  <a:cubicBezTo>
                    <a:pt x="2192553" y="1876090"/>
                    <a:pt x="2182144" y="1886499"/>
                    <a:pt x="2169304" y="1886499"/>
                  </a:cubicBezTo>
                  <a:lnTo>
                    <a:pt x="23249" y="1886499"/>
                  </a:lnTo>
                  <a:cubicBezTo>
                    <a:pt x="10409" y="1886499"/>
                    <a:pt x="0" y="1876090"/>
                    <a:pt x="0" y="1863249"/>
                  </a:cubicBezTo>
                  <a:lnTo>
                    <a:pt x="0" y="23249"/>
                  </a:lnTo>
                  <a:cubicBezTo>
                    <a:pt x="0" y="10409"/>
                    <a:pt x="10409" y="0"/>
                    <a:pt x="23249" y="0"/>
                  </a:cubicBezTo>
                  <a:close/>
                </a:path>
              </a:pathLst>
            </a:custGeom>
            <a:solidFill>
              <a:srgbClr val="001F3F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192553" cy="18960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66750" y="742950"/>
            <a:ext cx="16954500" cy="1067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00"/>
              </a:lnSpc>
              <a:spcBef>
                <a:spcPct val="0"/>
              </a:spcBef>
            </a:pPr>
            <a:r>
              <a:rPr lang="en-US" sz="9000" b="1" u="none" strike="noStrike" spc="-89" dirty="0">
                <a:solidFill>
                  <a:srgbClr val="001F3F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Gender Perception-Safety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677069" y="3819335"/>
            <a:ext cx="7944180" cy="4917608"/>
            <a:chOff x="-1410141" y="-1765553"/>
            <a:chExt cx="10592240" cy="6556811"/>
          </a:xfrm>
        </p:grpSpPr>
        <p:sp>
          <p:nvSpPr>
            <p:cNvPr id="10" name="TextBox 10"/>
            <p:cNvSpPr txBox="1"/>
            <p:nvPr/>
          </p:nvSpPr>
          <p:spPr>
            <a:xfrm>
              <a:off x="-292100" y="-1765553"/>
              <a:ext cx="7264400" cy="92760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400"/>
                </a:lnSpc>
              </a:pPr>
              <a:r>
                <a:rPr lang="en-US" sz="5500" b="1" spc="-60">
                  <a:solidFill>
                    <a:srgbClr val="FFDC00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Difference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-1410141" y="-894060"/>
              <a:ext cx="10592240" cy="568531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42900" indent="-342900" algn="just">
                <a:buFont typeface="Arial" panose="020B0604020202020204" pitchFamily="34" charset="0"/>
                <a:buChar char="•"/>
              </a:pPr>
              <a:r>
                <a:rPr lang="en-US" sz="2500" dirty="0">
                  <a:solidFill>
                    <a:schemeClr val="bg1"/>
                  </a:solidFill>
                </a:rPr>
                <a:t>Analysis shows no statistically significant gender-based differences in satisfaction, trust, or mode preference across surveyed commuters.</a:t>
              </a:r>
            </a:p>
            <a:p>
              <a:pPr marL="342900" indent="-342900" algn="just">
                <a:buFont typeface="Arial" panose="020B0604020202020204" pitchFamily="34" charset="0"/>
                <a:buChar char="•"/>
              </a:pPr>
              <a:r>
                <a:rPr lang="en-US" sz="2500" dirty="0">
                  <a:solidFill>
                    <a:schemeClr val="bg1"/>
                  </a:solidFill>
                </a:rPr>
                <a:t>Both genders rated service reliability, punctuality, and comfort as the top influencers of satisfaction, rather than gender-specific factors.</a:t>
              </a:r>
            </a:p>
            <a:p>
              <a:pPr marL="342900" indent="-342900" algn="just">
                <a:buFont typeface="Arial" panose="020B0604020202020204" pitchFamily="34" charset="0"/>
                <a:buChar char="•"/>
              </a:pPr>
              <a:r>
                <a:rPr lang="en-US" sz="2500" dirty="0">
                  <a:solidFill>
                    <a:schemeClr val="bg1"/>
                  </a:solidFill>
                </a:rPr>
                <a:t>This suggests that modern urban transport design is becoming more gender-neutral, with inclusivity and uniform service experience emerging as key strengths of multimodal travel networks.</a:t>
              </a:r>
            </a:p>
            <a:p>
              <a:pPr marL="0" lvl="0" indent="0" algn="just">
                <a:lnSpc>
                  <a:spcPts val="3499"/>
                </a:lnSpc>
                <a:spcBef>
                  <a:spcPct val="0"/>
                </a:spcBef>
              </a:pPr>
              <a:endParaRPr lang="en-US" sz="2500" u="none" strike="noStrike" dirty="0">
                <a:solidFill>
                  <a:schemeClr val="bg1"/>
                </a:solidFill>
                <a:latin typeface="Nyutro Sans"/>
                <a:ea typeface="Nyutro Sans"/>
                <a:cs typeface="Nyutro Sans"/>
                <a:sym typeface="Nyutro Sans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34090" y="3822601"/>
            <a:ext cx="7990167" cy="5683783"/>
            <a:chOff x="-1360480" y="-3358735"/>
            <a:chExt cx="8608779" cy="14306965"/>
          </a:xfrm>
        </p:grpSpPr>
        <p:sp>
          <p:nvSpPr>
            <p:cNvPr id="13" name="TextBox 13"/>
            <p:cNvSpPr txBox="1"/>
            <p:nvPr/>
          </p:nvSpPr>
          <p:spPr>
            <a:xfrm>
              <a:off x="-621937" y="-3358735"/>
              <a:ext cx="7131693" cy="179154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0" lvl="0" indent="0" algn="ctr">
                <a:lnSpc>
                  <a:spcPts val="5400"/>
                </a:lnSpc>
              </a:pPr>
              <a:r>
                <a:rPr lang="en-US" sz="5500" b="1" spc="-60">
                  <a:solidFill>
                    <a:srgbClr val="FFDC00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Safety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-1360480" y="-1721693"/>
              <a:ext cx="8608779" cy="1266992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42900" indent="-342900" algn="just">
                <a:buFont typeface="Arial" panose="020B0604020202020204" pitchFamily="34" charset="0"/>
                <a:buChar char="•"/>
              </a:pPr>
              <a:r>
                <a:rPr lang="en-US" sz="2500" dirty="0">
                  <a:solidFill>
                    <a:schemeClr val="bg1"/>
                  </a:solidFill>
                </a:rPr>
                <a:t>Safety perceptions in public transport remain largely uniform across genders, indicating that male and female commuters share similar views on the security and comfort of multimodal travel.</a:t>
              </a:r>
            </a:p>
            <a:p>
              <a:pPr marL="342900" indent="-342900" algn="just">
                <a:buFont typeface="Arial" panose="020B0604020202020204" pitchFamily="34" charset="0"/>
                <a:buChar char="•"/>
              </a:pPr>
              <a:r>
                <a:rPr lang="en-US" sz="2500" dirty="0">
                  <a:solidFill>
                    <a:schemeClr val="bg1"/>
                  </a:solidFill>
                </a:rPr>
                <a:t>Interestingly, while women tend to express slightly higher caution during late hours, this does not significantly affect their overall satisfaction or willingness to use multimodal systems.</a:t>
              </a:r>
            </a:p>
            <a:p>
              <a:pPr marL="342900" indent="-342900" algn="just">
                <a:buFont typeface="Arial" panose="020B0604020202020204" pitchFamily="34" charset="0"/>
                <a:buChar char="•"/>
              </a:pPr>
              <a:r>
                <a:rPr lang="en-US" sz="2500" dirty="0">
                  <a:solidFill>
                    <a:schemeClr val="bg1"/>
                  </a:solidFill>
                </a:rPr>
                <a:t>The findings highlight that system-level safety measures (like surveillance, lighting, and crowd control) have successfully balanced perceptions among different gender groups.</a:t>
              </a:r>
            </a:p>
            <a:p>
              <a:pPr marL="0" lvl="0" indent="0" algn="just">
                <a:lnSpc>
                  <a:spcPts val="3499"/>
                </a:lnSpc>
                <a:spcBef>
                  <a:spcPct val="0"/>
                </a:spcBef>
              </a:pPr>
              <a:endParaRPr lang="en-US" sz="2500" u="none" strike="noStrike" dirty="0">
                <a:solidFill>
                  <a:schemeClr val="bg1"/>
                </a:solidFill>
                <a:latin typeface="Nyutro Sans"/>
                <a:ea typeface="Nyutro Sans"/>
                <a:cs typeface="Nyutro Sans"/>
                <a:sym typeface="Nyutro Sans"/>
              </a:endParaRPr>
            </a:p>
          </p:txBody>
        </p:sp>
      </p:grpSp>
      <p:sp>
        <p:nvSpPr>
          <p:cNvPr id="15" name="Freeform 15"/>
          <p:cNvSpPr/>
          <p:nvPr/>
        </p:nvSpPr>
        <p:spPr>
          <a:xfrm>
            <a:off x="3877521" y="2705100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6"/>
                </a:lnTo>
                <a:lnTo>
                  <a:pt x="0" y="899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Freeform 16"/>
          <p:cNvSpPr/>
          <p:nvPr/>
        </p:nvSpPr>
        <p:spPr>
          <a:xfrm>
            <a:off x="12507171" y="2569195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8" y="0"/>
                </a:lnTo>
                <a:lnTo>
                  <a:pt x="1903308" y="899746"/>
                </a:lnTo>
                <a:lnTo>
                  <a:pt x="0" y="899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2364135"/>
            <a:ext cx="8324850" cy="7198965"/>
            <a:chOff x="0" y="-9525"/>
            <a:chExt cx="2192553" cy="189602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2553" cy="1886499"/>
            </a:xfrm>
            <a:custGeom>
              <a:avLst/>
              <a:gdLst/>
              <a:ahLst/>
              <a:cxnLst/>
              <a:rect l="l" t="t" r="r" b="b"/>
              <a:pathLst>
                <a:path w="2192553" h="1886499">
                  <a:moveTo>
                    <a:pt x="23249" y="0"/>
                  </a:moveTo>
                  <a:lnTo>
                    <a:pt x="2169304" y="0"/>
                  </a:lnTo>
                  <a:cubicBezTo>
                    <a:pt x="2182144" y="0"/>
                    <a:pt x="2192553" y="10409"/>
                    <a:pt x="2192553" y="23249"/>
                  </a:cubicBezTo>
                  <a:lnTo>
                    <a:pt x="2192553" y="1863249"/>
                  </a:lnTo>
                  <a:cubicBezTo>
                    <a:pt x="2192553" y="1876090"/>
                    <a:pt x="2182144" y="1886499"/>
                    <a:pt x="2169304" y="1886499"/>
                  </a:cubicBezTo>
                  <a:lnTo>
                    <a:pt x="23249" y="1886499"/>
                  </a:lnTo>
                  <a:cubicBezTo>
                    <a:pt x="10409" y="1886499"/>
                    <a:pt x="0" y="1876090"/>
                    <a:pt x="0" y="1863249"/>
                  </a:cubicBezTo>
                  <a:lnTo>
                    <a:pt x="0" y="23249"/>
                  </a:lnTo>
                  <a:cubicBezTo>
                    <a:pt x="0" y="10409"/>
                    <a:pt x="10409" y="0"/>
                    <a:pt x="23249" y="0"/>
                  </a:cubicBezTo>
                  <a:close/>
                </a:path>
              </a:pathLst>
            </a:custGeom>
            <a:solidFill>
              <a:srgbClr val="FFDC00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192553" cy="18960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2457450"/>
            <a:ext cx="8324850" cy="7162800"/>
            <a:chOff x="0" y="0"/>
            <a:chExt cx="2192553" cy="188649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2553" cy="1886499"/>
            </a:xfrm>
            <a:custGeom>
              <a:avLst/>
              <a:gdLst/>
              <a:ahLst/>
              <a:cxnLst/>
              <a:rect l="l" t="t" r="r" b="b"/>
              <a:pathLst>
                <a:path w="2192553" h="1886499">
                  <a:moveTo>
                    <a:pt x="23249" y="0"/>
                  </a:moveTo>
                  <a:lnTo>
                    <a:pt x="2169304" y="0"/>
                  </a:lnTo>
                  <a:cubicBezTo>
                    <a:pt x="2182144" y="0"/>
                    <a:pt x="2192553" y="10409"/>
                    <a:pt x="2192553" y="23249"/>
                  </a:cubicBezTo>
                  <a:lnTo>
                    <a:pt x="2192553" y="1863249"/>
                  </a:lnTo>
                  <a:cubicBezTo>
                    <a:pt x="2192553" y="1876090"/>
                    <a:pt x="2182144" y="1886499"/>
                    <a:pt x="2169304" y="1886499"/>
                  </a:cubicBezTo>
                  <a:lnTo>
                    <a:pt x="23249" y="1886499"/>
                  </a:lnTo>
                  <a:cubicBezTo>
                    <a:pt x="10409" y="1886499"/>
                    <a:pt x="0" y="1876090"/>
                    <a:pt x="0" y="1863249"/>
                  </a:cubicBezTo>
                  <a:lnTo>
                    <a:pt x="0" y="23249"/>
                  </a:lnTo>
                  <a:cubicBezTo>
                    <a:pt x="0" y="10409"/>
                    <a:pt x="10409" y="0"/>
                    <a:pt x="23249" y="0"/>
                  </a:cubicBezTo>
                  <a:close/>
                </a:path>
              </a:pathLst>
            </a:custGeom>
            <a:solidFill>
              <a:srgbClr val="FFDC00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192553" cy="18960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66750" y="742950"/>
            <a:ext cx="16954500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00"/>
              </a:lnSpc>
              <a:spcBef>
                <a:spcPct val="0"/>
              </a:spcBef>
            </a:pPr>
            <a:r>
              <a:rPr lang="en-US" sz="9000" b="1" u="none" strike="noStrike" spc="-89">
                <a:solidFill>
                  <a:srgbClr val="FFDC00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Seat Availability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776565" y="3405732"/>
            <a:ext cx="7673236" cy="4729742"/>
            <a:chOff x="-1010675" y="103305"/>
            <a:chExt cx="8094220" cy="6306323"/>
          </a:xfrm>
        </p:grpSpPr>
        <p:sp>
          <p:nvSpPr>
            <p:cNvPr id="10" name="TextBox 10"/>
            <p:cNvSpPr txBox="1"/>
            <p:nvPr/>
          </p:nvSpPr>
          <p:spPr>
            <a:xfrm>
              <a:off x="-1010675" y="103305"/>
              <a:ext cx="7264400" cy="1181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400"/>
                </a:lnSpc>
              </a:pPr>
              <a:r>
                <a:rPr lang="en-US" sz="6000" b="1" spc="-60">
                  <a:solidFill>
                    <a:srgbClr val="001F3F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Reliability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-1010675" y="1237271"/>
              <a:ext cx="8094220" cy="517235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42900" indent="-342900" algn="just">
                <a:buFont typeface="Arial" panose="020B0604020202020204" pitchFamily="34" charset="0"/>
                <a:buChar char="•"/>
              </a:pPr>
              <a:r>
                <a:rPr lang="en-US" sz="2500">
                  <a:solidFill>
                    <a:srgbClr val="002060"/>
                  </a:solidFill>
                </a:rPr>
                <a:t>The high predictive accuracy fosters user trust, showing that travelers rely on the system’s insights for consistent and reliable seat information.</a:t>
              </a:r>
            </a:p>
            <a:p>
              <a:pPr marL="342900" indent="-342900" algn="just">
                <a:buFont typeface="Arial" panose="020B0604020202020204" pitchFamily="34" charset="0"/>
                <a:buChar char="•"/>
              </a:pPr>
              <a:r>
                <a:rPr lang="en-US" sz="2500">
                  <a:solidFill>
                    <a:srgbClr val="002060"/>
                  </a:solidFill>
                </a:rPr>
                <a:t>Continuous data validation and adaptive algorithms ensure that the model performs effectively even under unpredictable demand surges.</a:t>
              </a:r>
            </a:p>
            <a:p>
              <a:pPr marL="342900" indent="-342900" algn="just">
                <a:buFont typeface="Arial" panose="020B0604020202020204" pitchFamily="34" charset="0"/>
                <a:buChar char="•"/>
              </a:pPr>
              <a:r>
                <a:rPr lang="en-US" sz="2500">
                  <a:solidFill>
                    <a:srgbClr val="002060"/>
                  </a:solidFill>
                </a:rPr>
                <a:t>As a result, passenger confidence and satisfaction levels increase, making data-driven planning a key contributor to the success of multimodal systems.</a:t>
              </a:r>
            </a:p>
            <a:p>
              <a:pPr marL="342900" lvl="0" indent="-342900" algn="just">
                <a:lnSpc>
                  <a:spcPts val="3499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endParaRPr lang="en-US" sz="2500" u="none" strike="noStrike">
                <a:solidFill>
                  <a:srgbClr val="002060"/>
                </a:solidFill>
                <a:latin typeface="Nyutro Sans"/>
                <a:ea typeface="Nyutro Sans"/>
                <a:cs typeface="Nyutro Sans"/>
                <a:sym typeface="Nyutro Sans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66750" y="3414345"/>
            <a:ext cx="8324850" cy="4827003"/>
            <a:chOff x="0" y="38100"/>
            <a:chExt cx="7264400" cy="6436004"/>
          </a:xfrm>
        </p:grpSpPr>
        <p:sp>
          <p:nvSpPr>
            <p:cNvPr id="13" name="TextBox 13"/>
            <p:cNvSpPr txBox="1"/>
            <p:nvPr/>
          </p:nvSpPr>
          <p:spPr>
            <a:xfrm>
              <a:off x="0" y="38100"/>
              <a:ext cx="7264400" cy="1181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400"/>
                </a:lnSpc>
              </a:pPr>
              <a:r>
                <a:rPr lang="en-US" sz="6000" b="1" spc="-60">
                  <a:solidFill>
                    <a:srgbClr val="001F3F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Prediction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301750"/>
              <a:ext cx="7264400" cy="51723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457200" indent="-457200" algn="just">
                <a:buFont typeface="Arial" panose="020B0604020202020204" pitchFamily="34" charset="0"/>
                <a:buChar char="•"/>
              </a:pPr>
              <a:r>
                <a:rPr lang="en-US" sz="2500">
                  <a:solidFill>
                    <a:srgbClr val="002060"/>
                  </a:solidFill>
                </a:rPr>
                <a:t>The predictive model for seat availability demonstrates an impressive 96% accuracy, driven by real-time data integration and travel pattern learning algorithms.</a:t>
              </a:r>
            </a:p>
            <a:p>
              <a:pPr marL="457200" indent="-457200" algn="just">
                <a:buFont typeface="Arial" panose="020B0604020202020204" pitchFamily="34" charset="0"/>
                <a:buChar char="•"/>
              </a:pPr>
              <a:r>
                <a:rPr lang="en-US" sz="2500">
                  <a:solidFill>
                    <a:srgbClr val="002060"/>
                  </a:solidFill>
                </a:rPr>
                <a:t>This capability allows commuters to plan boarding points more strategically, minimizing waiting time and improving comfort.</a:t>
              </a:r>
            </a:p>
            <a:p>
              <a:pPr marL="457200" indent="-457200" algn="just">
                <a:buFont typeface="Arial" panose="020B0604020202020204" pitchFamily="34" charset="0"/>
                <a:buChar char="•"/>
              </a:pPr>
              <a:r>
                <a:rPr lang="en-US" sz="2500">
                  <a:solidFill>
                    <a:srgbClr val="002060"/>
                  </a:solidFill>
                </a:rPr>
                <a:t>Accurate seat prediction also supports crowd distribution, reducing congestion and improving operational efficiency during peak hours.</a:t>
              </a:r>
            </a:p>
            <a:p>
              <a:pPr marL="0" lvl="0" indent="0" algn="just">
                <a:lnSpc>
                  <a:spcPts val="3499"/>
                </a:lnSpc>
                <a:spcBef>
                  <a:spcPct val="0"/>
                </a:spcBef>
              </a:pPr>
              <a:endParaRPr lang="en-US" sz="2500" u="none" strike="noStrike">
                <a:solidFill>
                  <a:srgbClr val="002060"/>
                </a:solidFill>
                <a:latin typeface="Nyutro Sans"/>
                <a:ea typeface="Nyutro Sans"/>
                <a:cs typeface="Nyutro Sans"/>
                <a:sym typeface="Nyutro Sans"/>
              </a:endParaRPr>
            </a:p>
          </p:txBody>
        </p:sp>
      </p:grpSp>
      <p:sp>
        <p:nvSpPr>
          <p:cNvPr id="15" name="Freeform 15"/>
          <p:cNvSpPr/>
          <p:nvPr/>
        </p:nvSpPr>
        <p:spPr>
          <a:xfrm>
            <a:off x="3877521" y="2457450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6"/>
                </a:lnTo>
                <a:lnTo>
                  <a:pt x="0" y="899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2268200" y="2457083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8" y="0"/>
                </a:lnTo>
                <a:lnTo>
                  <a:pt x="1903308" y="899746"/>
                </a:lnTo>
                <a:lnTo>
                  <a:pt x="0" y="899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C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71463" y="5753100"/>
            <a:ext cx="8153400" cy="36804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>
                <a:solidFill>
                  <a:srgbClr val="002060"/>
                </a:solidFill>
              </a:rPr>
              <a:t>Satisfaction slightly higher among multi-mode travelers (3.51 vs 3.32)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>
                <a:solidFill>
                  <a:srgbClr val="002060"/>
                </a:solidFill>
              </a:rPr>
              <a:t>Flexibility boosts satisfaction → they adapt easily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>
                <a:solidFill>
                  <a:srgbClr val="002060"/>
                </a:solidFill>
              </a:rPr>
              <a:t>Good access ≠ less auto use → autos still crucial for last-mile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000">
                <a:solidFill>
                  <a:srgbClr val="002060"/>
                </a:solidFill>
              </a:rPr>
              <a:t>Access ≠ payment choice → behavior driven by habit, not location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endParaRPr lang="en-US" sz="3000" u="none" strike="noStrike">
              <a:solidFill>
                <a:srgbClr val="002060"/>
              </a:solidFill>
              <a:latin typeface="Nyutro Sans"/>
              <a:ea typeface="Nyutro Sans"/>
              <a:cs typeface="Nyutro Sans"/>
              <a:sym typeface="Nyutro San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666750" y="742950"/>
            <a:ext cx="6886575" cy="2106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00"/>
              </a:lnSpc>
              <a:spcBef>
                <a:spcPct val="0"/>
              </a:spcBef>
            </a:pPr>
            <a:r>
              <a:rPr lang="en-US" sz="9000" b="1" u="none" strike="noStrike" spc="-89">
                <a:solidFill>
                  <a:srgbClr val="001F3F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Multimodal Travel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CEB551-2A81-7008-CDC8-AC8BAB132B6F}"/>
              </a:ext>
            </a:extLst>
          </p:cNvPr>
          <p:cNvSpPr txBox="1"/>
          <p:nvPr/>
        </p:nvSpPr>
        <p:spPr>
          <a:xfrm>
            <a:off x="228601" y="2994442"/>
            <a:ext cx="87630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 b="1">
                <a:solidFill>
                  <a:srgbClr val="002060"/>
                </a:solidFill>
              </a:rPr>
              <a:t>Do Multi-Mode Users Stay Happy?</a:t>
            </a:r>
            <a:endParaRPr lang="en-IN" sz="6600" b="1">
              <a:solidFill>
                <a:srgbClr val="002060"/>
              </a:solidFill>
            </a:endParaRPr>
          </a:p>
        </p:txBody>
      </p:sp>
      <p:grpSp>
        <p:nvGrpSpPr>
          <p:cNvPr id="8" name="Group 4">
            <a:extLst>
              <a:ext uri="{FF2B5EF4-FFF2-40B4-BE49-F238E27FC236}">
                <a16:creationId xmlns:a16="http://schemas.microsoft.com/office/drawing/2014/main" id="{FEBB9D32-393B-9B6D-DF11-DD126AAFD0FD}"/>
              </a:ext>
            </a:extLst>
          </p:cNvPr>
          <p:cNvGrpSpPr/>
          <p:nvPr/>
        </p:nvGrpSpPr>
        <p:grpSpPr>
          <a:xfrm>
            <a:off x="10515600" y="495300"/>
            <a:ext cx="7348422" cy="8962358"/>
            <a:chOff x="0" y="0"/>
            <a:chExt cx="2607195" cy="2770723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54F562B4-1913-0899-F53A-3EF0DB1E1B8C}"/>
                </a:ext>
              </a:extLst>
            </p:cNvPr>
            <p:cNvSpPr/>
            <p:nvPr/>
          </p:nvSpPr>
          <p:spPr>
            <a:xfrm>
              <a:off x="0" y="0"/>
              <a:ext cx="2607195" cy="2770723"/>
            </a:xfrm>
            <a:custGeom>
              <a:avLst/>
              <a:gdLst/>
              <a:ahLst/>
              <a:cxnLst/>
              <a:rect l="l" t="t" r="r" b="b"/>
              <a:pathLst>
                <a:path w="2607195" h="2770723">
                  <a:moveTo>
                    <a:pt x="2119752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2593050"/>
                  </a:lnTo>
                  <a:cubicBezTo>
                    <a:pt x="0" y="2691176"/>
                    <a:pt x="79547" y="2770723"/>
                    <a:pt x="177673" y="2770723"/>
                  </a:cubicBezTo>
                  <a:lnTo>
                    <a:pt x="2429522" y="2770723"/>
                  </a:lnTo>
                  <a:cubicBezTo>
                    <a:pt x="2527648" y="2770723"/>
                    <a:pt x="2607195" y="2691176"/>
                    <a:pt x="2607195" y="2593050"/>
                  </a:cubicBezTo>
                  <a:lnTo>
                    <a:pt x="2607195" y="523958"/>
                  </a:lnTo>
                  <a:cubicBezTo>
                    <a:pt x="2607195" y="480251"/>
                    <a:pt x="2591085" y="438079"/>
                    <a:pt x="2561946" y="405503"/>
                  </a:cubicBezTo>
                  <a:lnTo>
                    <a:pt x="2252169" y="59214"/>
                  </a:lnTo>
                  <a:cubicBezTo>
                    <a:pt x="2218465" y="21536"/>
                    <a:pt x="2170306" y="0"/>
                    <a:pt x="2119752" y="0"/>
                  </a:cubicBezTo>
                  <a:close/>
                </a:path>
              </a:pathLst>
            </a:custGeom>
            <a:blipFill>
              <a:blip r:embed="rId2"/>
              <a:stretch>
                <a:fillRect t="-252" b="-252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C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829336-1777-7A0A-6C49-27C628B048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AB114BA4-8046-8B8D-67FC-D62AB5184B72}"/>
              </a:ext>
            </a:extLst>
          </p:cNvPr>
          <p:cNvSpPr txBox="1"/>
          <p:nvPr/>
        </p:nvSpPr>
        <p:spPr>
          <a:xfrm>
            <a:off x="666750" y="742950"/>
            <a:ext cx="6886575" cy="2106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100"/>
              </a:lnSpc>
              <a:spcBef>
                <a:spcPct val="0"/>
              </a:spcBef>
            </a:pPr>
            <a:r>
              <a:rPr lang="en-US" sz="9000" b="1" u="none" strike="noStrike" spc="-89">
                <a:solidFill>
                  <a:srgbClr val="001F3F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Multimodal Travel</a:t>
            </a: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C7BC4270-D1BE-D0A5-5029-499B970AFE98}"/>
              </a:ext>
            </a:extLst>
          </p:cNvPr>
          <p:cNvGrpSpPr/>
          <p:nvPr/>
        </p:nvGrpSpPr>
        <p:grpSpPr>
          <a:xfrm>
            <a:off x="10515600" y="495300"/>
            <a:ext cx="7348422" cy="8962358"/>
            <a:chOff x="0" y="0"/>
            <a:chExt cx="2607195" cy="277072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4F403A40-35F2-BB75-71CD-D53475E48F22}"/>
                </a:ext>
              </a:extLst>
            </p:cNvPr>
            <p:cNvSpPr/>
            <p:nvPr/>
          </p:nvSpPr>
          <p:spPr>
            <a:xfrm>
              <a:off x="0" y="0"/>
              <a:ext cx="2607195" cy="2770723"/>
            </a:xfrm>
            <a:custGeom>
              <a:avLst/>
              <a:gdLst/>
              <a:ahLst/>
              <a:cxnLst/>
              <a:rect l="l" t="t" r="r" b="b"/>
              <a:pathLst>
                <a:path w="2607195" h="2770723">
                  <a:moveTo>
                    <a:pt x="2119752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2593050"/>
                  </a:lnTo>
                  <a:cubicBezTo>
                    <a:pt x="0" y="2691176"/>
                    <a:pt x="79547" y="2770723"/>
                    <a:pt x="177673" y="2770723"/>
                  </a:cubicBezTo>
                  <a:lnTo>
                    <a:pt x="2429522" y="2770723"/>
                  </a:lnTo>
                  <a:cubicBezTo>
                    <a:pt x="2527648" y="2770723"/>
                    <a:pt x="2607195" y="2691176"/>
                    <a:pt x="2607195" y="2593050"/>
                  </a:cubicBezTo>
                  <a:lnTo>
                    <a:pt x="2607195" y="523958"/>
                  </a:lnTo>
                  <a:cubicBezTo>
                    <a:pt x="2607195" y="480251"/>
                    <a:pt x="2591085" y="438079"/>
                    <a:pt x="2561946" y="405503"/>
                  </a:cubicBezTo>
                  <a:lnTo>
                    <a:pt x="2252169" y="59214"/>
                  </a:lnTo>
                  <a:cubicBezTo>
                    <a:pt x="2218465" y="21536"/>
                    <a:pt x="2170306" y="0"/>
                    <a:pt x="2119752" y="0"/>
                  </a:cubicBezTo>
                  <a:close/>
                </a:path>
              </a:pathLst>
            </a:custGeom>
            <a:blipFill>
              <a:blip r:embed="rId2"/>
              <a:stretch>
                <a:fillRect t="-252" b="-252"/>
              </a:stretch>
            </a:blipFill>
          </p:spPr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36EFD4D0-5E2A-66DB-B28A-6DB938694438}"/>
              </a:ext>
            </a:extLst>
          </p:cNvPr>
          <p:cNvSpPr txBox="1"/>
          <p:nvPr/>
        </p:nvSpPr>
        <p:spPr>
          <a:xfrm>
            <a:off x="228601" y="2994442"/>
            <a:ext cx="8763000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600" b="1">
                <a:solidFill>
                  <a:srgbClr val="002060"/>
                </a:solidFill>
              </a:rPr>
              <a:t>The Future of Multi-Modal Mobility</a:t>
            </a:r>
            <a:endParaRPr lang="en-IN" sz="6600" b="1">
              <a:solidFill>
                <a:srgbClr val="002060"/>
              </a:solidFill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48E3D25-4518-0358-1A50-C80FE89B99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5291435"/>
            <a:ext cx="9905999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i="0" u="none" strike="noStrike" cap="none" normalizeH="0" baseline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Multimodal travel = normal and positive trend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i="0" u="none" strike="noStrike" cap="none" normalizeH="0" baseline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Better integration, not replacement, is the key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i="0" u="none" strike="noStrike" cap="none" normalizeH="0" baseline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Access improvement should go with first-/last-mile planning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i="0" u="none" strike="noStrike" cap="none" normalizeH="0" baseline="0">
                <a:ln>
                  <a:noFill/>
                </a:ln>
                <a:solidFill>
                  <a:srgbClr val="002060"/>
                </a:solidFill>
                <a:effectLst/>
                <a:latin typeface="Arial" panose="020B0604020202020204" pitchFamily="34" charset="0"/>
              </a:rPr>
              <a:t>Policy focus: seamless transitions between trains, autos, and metros</a:t>
            </a:r>
          </a:p>
        </p:txBody>
      </p:sp>
    </p:spTree>
    <p:extLst>
      <p:ext uri="{BB962C8B-B14F-4D97-AF65-F5344CB8AC3E}">
        <p14:creationId xmlns:p14="http://schemas.microsoft.com/office/powerpoint/2010/main" val="14724924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41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2457450"/>
            <a:ext cx="8324850" cy="7162800"/>
            <a:chOff x="0" y="0"/>
            <a:chExt cx="2192553" cy="188649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2553" cy="1886499"/>
            </a:xfrm>
            <a:custGeom>
              <a:avLst/>
              <a:gdLst/>
              <a:ahLst/>
              <a:cxnLst/>
              <a:rect l="l" t="t" r="r" b="b"/>
              <a:pathLst>
                <a:path w="2192553" h="1886499">
                  <a:moveTo>
                    <a:pt x="23249" y="0"/>
                  </a:moveTo>
                  <a:lnTo>
                    <a:pt x="2169304" y="0"/>
                  </a:lnTo>
                  <a:cubicBezTo>
                    <a:pt x="2182144" y="0"/>
                    <a:pt x="2192553" y="10409"/>
                    <a:pt x="2192553" y="23249"/>
                  </a:cubicBezTo>
                  <a:lnTo>
                    <a:pt x="2192553" y="1863249"/>
                  </a:lnTo>
                  <a:cubicBezTo>
                    <a:pt x="2192553" y="1876090"/>
                    <a:pt x="2182144" y="1886499"/>
                    <a:pt x="2169304" y="1886499"/>
                  </a:cubicBezTo>
                  <a:lnTo>
                    <a:pt x="23249" y="1886499"/>
                  </a:lnTo>
                  <a:cubicBezTo>
                    <a:pt x="10409" y="1886499"/>
                    <a:pt x="0" y="1876090"/>
                    <a:pt x="0" y="1863249"/>
                  </a:cubicBezTo>
                  <a:lnTo>
                    <a:pt x="0" y="23249"/>
                  </a:lnTo>
                  <a:cubicBezTo>
                    <a:pt x="0" y="10409"/>
                    <a:pt x="10409" y="0"/>
                    <a:pt x="23249" y="0"/>
                  </a:cubicBezTo>
                  <a:close/>
                </a:path>
              </a:pathLst>
            </a:custGeom>
            <a:solidFill>
              <a:srgbClr val="001F3F"/>
            </a:solidFill>
            <a:ln cap="rnd">
              <a:noFill/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192553" cy="18960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2457450"/>
            <a:ext cx="8324850" cy="7162800"/>
            <a:chOff x="0" y="0"/>
            <a:chExt cx="2192553" cy="188649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92553" cy="1886499"/>
            </a:xfrm>
            <a:custGeom>
              <a:avLst/>
              <a:gdLst/>
              <a:ahLst/>
              <a:cxnLst/>
              <a:rect l="l" t="t" r="r" b="b"/>
              <a:pathLst>
                <a:path w="2192553" h="1886499">
                  <a:moveTo>
                    <a:pt x="23249" y="0"/>
                  </a:moveTo>
                  <a:lnTo>
                    <a:pt x="2169304" y="0"/>
                  </a:lnTo>
                  <a:cubicBezTo>
                    <a:pt x="2182144" y="0"/>
                    <a:pt x="2192553" y="10409"/>
                    <a:pt x="2192553" y="23249"/>
                  </a:cubicBezTo>
                  <a:lnTo>
                    <a:pt x="2192553" y="1863249"/>
                  </a:lnTo>
                  <a:cubicBezTo>
                    <a:pt x="2192553" y="1876090"/>
                    <a:pt x="2182144" y="1886499"/>
                    <a:pt x="2169304" y="1886499"/>
                  </a:cubicBezTo>
                  <a:lnTo>
                    <a:pt x="23249" y="1886499"/>
                  </a:lnTo>
                  <a:cubicBezTo>
                    <a:pt x="10409" y="1886499"/>
                    <a:pt x="0" y="1876090"/>
                    <a:pt x="0" y="1863249"/>
                  </a:cubicBezTo>
                  <a:lnTo>
                    <a:pt x="0" y="23249"/>
                  </a:lnTo>
                  <a:cubicBezTo>
                    <a:pt x="0" y="10409"/>
                    <a:pt x="10409" y="0"/>
                    <a:pt x="23249" y="0"/>
                  </a:cubicBezTo>
                  <a:close/>
                </a:path>
              </a:pathLst>
            </a:custGeom>
            <a:solidFill>
              <a:srgbClr val="001F3F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9525"/>
              <a:ext cx="2192553" cy="18960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666750" y="742950"/>
            <a:ext cx="16954500" cy="1295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00"/>
              </a:lnSpc>
              <a:spcBef>
                <a:spcPct val="0"/>
              </a:spcBef>
            </a:pPr>
            <a:r>
              <a:rPr lang="en-US" sz="9000" b="1" u="none" strike="noStrike" spc="-89">
                <a:solidFill>
                  <a:srgbClr val="FFDC00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Multimodal Insights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512300" y="4248149"/>
            <a:ext cx="7477125" cy="3450501"/>
            <a:chOff x="-838068" y="38100"/>
            <a:chExt cx="8088729" cy="4600668"/>
          </a:xfrm>
        </p:grpSpPr>
        <p:sp>
          <p:nvSpPr>
            <p:cNvPr id="10" name="TextBox 10"/>
            <p:cNvSpPr txBox="1"/>
            <p:nvPr/>
          </p:nvSpPr>
          <p:spPr>
            <a:xfrm>
              <a:off x="-41216" y="38100"/>
              <a:ext cx="7264400" cy="1181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400"/>
                </a:lnSpc>
              </a:pPr>
              <a:r>
                <a:rPr lang="en-US" sz="6000" b="1" spc="-60">
                  <a:solidFill>
                    <a:srgbClr val="FFDC00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Payment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-838068" y="1086171"/>
              <a:ext cx="8088729" cy="355259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42900" lvl="0" indent="-342900" algn="just">
                <a:lnSpc>
                  <a:spcPts val="3499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sz="2499" u="none" strike="noStrike">
                  <a:solidFill>
                    <a:srgbClr val="FFFF4D"/>
                  </a:solidFill>
                  <a:latin typeface="+mj-lt"/>
                  <a:ea typeface="Nyutro Sans"/>
                  <a:cs typeface="Nyutro Sans"/>
                  <a:sym typeface="Nyutro Sans"/>
                </a:rPr>
                <a:t>Mode of payment — cash, card, or digital — operates independently of access quality.</a:t>
              </a:r>
            </a:p>
            <a:p>
              <a:pPr marL="342900" lvl="0" indent="-342900" algn="just">
                <a:lnSpc>
                  <a:spcPts val="3499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sz="2499" u="none" strike="noStrike">
                  <a:solidFill>
                    <a:srgbClr val="FFFF4D"/>
                  </a:solidFill>
                  <a:latin typeface="+mj-lt"/>
                  <a:ea typeface="Nyutro Sans"/>
                  <a:cs typeface="Nyutro Sans"/>
                  <a:sym typeface="Nyutro Sans"/>
                </a:rPr>
                <a:t>Young professionals prefer digital wallets for speed and record-keeping, while older travelers still rely on cash .</a:t>
              </a:r>
            </a:p>
            <a:p>
              <a:pPr marL="342900" lvl="0" indent="-342900" algn="just">
                <a:lnSpc>
                  <a:spcPts val="3499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sz="2499" u="none" strike="noStrike">
                  <a:solidFill>
                    <a:srgbClr val="FFFF4D"/>
                  </a:solidFill>
                  <a:latin typeface="+mj-lt"/>
                  <a:ea typeface="Nyutro Sans"/>
                  <a:cs typeface="Nyutro Sans"/>
                  <a:sym typeface="Nyutro Sans"/>
                </a:rPr>
                <a:t>A unified fare system (like NCMC) could streamline multimodal travel and enhance commuter </a:t>
              </a:r>
              <a:r>
                <a:rPr lang="en-US" sz="2499" u="none" strike="noStrike">
                  <a:solidFill>
                    <a:srgbClr val="FFFF4D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ease..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66750" y="4248149"/>
            <a:ext cx="8324850" cy="3450564"/>
            <a:chOff x="0" y="38100"/>
            <a:chExt cx="7264400" cy="5547094"/>
          </a:xfrm>
        </p:grpSpPr>
        <p:sp>
          <p:nvSpPr>
            <p:cNvPr id="13" name="TextBox 13"/>
            <p:cNvSpPr txBox="1"/>
            <p:nvPr/>
          </p:nvSpPr>
          <p:spPr>
            <a:xfrm>
              <a:off x="0" y="38100"/>
              <a:ext cx="7264400" cy="1181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400"/>
                </a:lnSpc>
              </a:pPr>
              <a:r>
                <a:rPr lang="en-US" sz="6000" b="1" spc="-60">
                  <a:solidFill>
                    <a:srgbClr val="FFDC00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Access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301751"/>
              <a:ext cx="7264400" cy="428344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457200" lvl="0" indent="-457200" algn="just">
                <a:lnSpc>
                  <a:spcPts val="3499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sz="2500">
                  <a:solidFill>
                    <a:srgbClr val="FFFF00"/>
                  </a:solidFill>
                </a:rPr>
                <a:t>Improved station and stop access increases </a:t>
              </a:r>
              <a:r>
                <a:rPr lang="en-US" sz="2500" i="1">
                  <a:solidFill>
                    <a:srgbClr val="FFFF00"/>
                  </a:solidFill>
                </a:rPr>
                <a:t>user satisfaction</a:t>
              </a:r>
              <a:r>
                <a:rPr lang="en-US" sz="2500">
                  <a:solidFill>
                    <a:srgbClr val="FFFF00"/>
                  </a:solidFill>
                </a:rPr>
                <a:t> but doesn’t reduce dependence on multiple transport.</a:t>
              </a:r>
            </a:p>
            <a:p>
              <a:pPr marL="457200" lvl="0" indent="-457200" algn="just">
                <a:lnSpc>
                  <a:spcPts val="3499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sz="2500">
                  <a:solidFill>
                    <a:srgbClr val="FFFF00"/>
                  </a:solidFill>
                </a:rPr>
                <a:t>Even with smoother entry and exit points, commuters continue mixing rail, auto, and bus options to save time.</a:t>
              </a:r>
            </a:p>
            <a:p>
              <a:pPr marL="457200" lvl="0" indent="-457200" algn="just">
                <a:lnSpc>
                  <a:spcPts val="3499"/>
                </a:lnSpc>
                <a:spcBef>
                  <a:spcPct val="0"/>
                </a:spcBef>
                <a:buFont typeface="Arial" panose="020B0604020202020204" pitchFamily="34" charset="0"/>
                <a:buChar char="•"/>
              </a:pPr>
              <a:r>
                <a:rPr lang="en-US" sz="2500">
                  <a:solidFill>
                    <a:srgbClr val="FFFF00"/>
                  </a:solidFill>
                </a:rPr>
                <a:t>Accessibility, therefore, impacts </a:t>
              </a:r>
              <a:r>
                <a:rPr lang="en-US" sz="2500" i="1">
                  <a:solidFill>
                    <a:srgbClr val="FFFF00"/>
                  </a:solidFill>
                </a:rPr>
                <a:t>comfort and convenience</a:t>
              </a:r>
              <a:r>
                <a:rPr lang="en-US" sz="2500">
                  <a:solidFill>
                    <a:srgbClr val="FFFF00"/>
                  </a:solidFill>
                </a:rPr>
                <a:t>, not </a:t>
              </a:r>
              <a:r>
                <a:rPr lang="en-US" sz="2500" i="1">
                  <a:solidFill>
                    <a:srgbClr val="FFFF00"/>
                  </a:solidFill>
                </a:rPr>
                <a:t>modal diversity</a:t>
              </a:r>
              <a:r>
                <a:rPr lang="en-US" sz="2500">
                  <a:solidFill>
                    <a:srgbClr val="FFFF00"/>
                  </a:solidFill>
                </a:rPr>
                <a:t>.</a:t>
              </a:r>
              <a:endParaRPr lang="en-US" sz="2500" u="none" strike="noStrike">
                <a:solidFill>
                  <a:srgbClr val="FFFF00"/>
                </a:solidFill>
                <a:latin typeface="Nyutro Sans"/>
                <a:ea typeface="Nyutro Sans"/>
                <a:cs typeface="Nyutro Sans"/>
                <a:sym typeface="Nyutro Sans"/>
              </a:endParaRPr>
            </a:p>
          </p:txBody>
        </p:sp>
      </p:grpSp>
      <p:sp>
        <p:nvSpPr>
          <p:cNvPr id="15" name="Freeform 15"/>
          <p:cNvSpPr/>
          <p:nvPr/>
        </p:nvSpPr>
        <p:spPr>
          <a:xfrm>
            <a:off x="3869305" y="2791525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6"/>
                </a:lnTo>
                <a:lnTo>
                  <a:pt x="0" y="899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Freeform 16"/>
          <p:cNvSpPr/>
          <p:nvPr/>
        </p:nvSpPr>
        <p:spPr>
          <a:xfrm>
            <a:off x="12507171" y="2791524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8" y="0"/>
                </a:lnTo>
                <a:lnTo>
                  <a:pt x="1903308" y="899746"/>
                </a:lnTo>
                <a:lnTo>
                  <a:pt x="0" y="899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510" y="412447"/>
            <a:ext cx="18113827" cy="11057482"/>
            <a:chOff x="-547824" y="76200"/>
            <a:chExt cx="23780357" cy="14358405"/>
          </a:xfrm>
        </p:grpSpPr>
        <p:sp>
          <p:nvSpPr>
            <p:cNvPr id="3" name="TextBox 3"/>
            <p:cNvSpPr txBox="1"/>
            <p:nvPr/>
          </p:nvSpPr>
          <p:spPr>
            <a:xfrm>
              <a:off x="-547824" y="76200"/>
              <a:ext cx="23780357" cy="142346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8100"/>
                </a:lnSpc>
                <a:spcBef>
                  <a:spcPct val="0"/>
                </a:spcBef>
              </a:pPr>
              <a:r>
                <a:rPr lang="en-US" sz="9000" b="1" u="none" strike="noStrike" spc="-89" dirty="0">
                  <a:solidFill>
                    <a:srgbClr val="FFDC00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 </a:t>
              </a:r>
              <a:r>
                <a:rPr lang="en-US" sz="9000" b="1" spc="-89" dirty="0">
                  <a:solidFill>
                    <a:srgbClr val="FFDC00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Improvement Priorities:  </a:t>
              </a:r>
              <a:endParaRPr lang="en-US" sz="9000" b="1" u="none" strike="noStrike" spc="-89" dirty="0">
                <a:solidFill>
                  <a:srgbClr val="FFDC00"/>
                </a:solidFill>
                <a:latin typeface="Nyutro Sans Heavy"/>
                <a:ea typeface="Nyutro Sans Heavy"/>
                <a:cs typeface="Nyutro Sans Heavy"/>
                <a:sym typeface="Nyutro Sans Heavy"/>
              </a:endParaRP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-155964" y="1916237"/>
              <a:ext cx="23218621" cy="1251836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514350" indent="-514350">
                <a:lnSpc>
                  <a:spcPts val="3599"/>
                </a:lnSpc>
                <a:spcBef>
                  <a:spcPct val="0"/>
                </a:spcBef>
                <a:buAutoNum type="arabicPeriod"/>
              </a:pPr>
              <a:r>
                <a:rPr lang="en-US" sz="3600" b="1" dirty="0">
                  <a:solidFill>
                    <a:srgbClr val="FFFF00"/>
                  </a:solidFill>
                  <a:latin typeface="Nyutro Sans Bold"/>
                  <a:cs typeface="Nyutro Sans Bold"/>
                  <a:sym typeface="Nyutro Sans Bold"/>
                </a:rPr>
                <a:t>Predicting improvement preferences : </a:t>
              </a:r>
              <a:r>
                <a:rPr lang="en-US" sz="3600" b="1" dirty="0">
                  <a:solidFill>
                    <a:srgbClr val="FFFF00"/>
                  </a:solidFill>
                  <a:latin typeface="Nyutro Sans Bold"/>
                  <a:ea typeface="Calibri"/>
                  <a:cs typeface="Nyutro Sans Bold"/>
                  <a:sym typeface="Nyutro Sans Bold"/>
                </a:rPr>
                <a:t> </a:t>
              </a:r>
              <a:endParaRPr lang="en-US" sz="3600" dirty="0">
                <a:solidFill>
                  <a:srgbClr val="FFFF00"/>
                </a:solidFill>
                <a:latin typeface="Nyutro Sans Bold"/>
                <a:ea typeface="Calibri"/>
                <a:cs typeface="Calibri"/>
              </a:endParaRPr>
            </a:p>
            <a:p>
              <a:pPr>
                <a:lnSpc>
                  <a:spcPts val="3599"/>
                </a:lnSpc>
                <a:spcBef>
                  <a:spcPct val="0"/>
                </a:spcBef>
              </a:pPr>
              <a:r>
                <a:rPr lang="en-US" sz="3600" b="1" dirty="0">
                  <a:solidFill>
                    <a:srgbClr val="FFFF00"/>
                  </a:solidFill>
                  <a:latin typeface="Nyutro Sans Bold"/>
                  <a:ea typeface="Calibri"/>
                  <a:cs typeface="Nyutro Sans Bold"/>
                </a:rPr>
                <a:t> Ans: </a:t>
              </a:r>
              <a:r>
                <a:rPr lang="en-US" sz="3600" b="1" dirty="0">
                  <a:solidFill>
                    <a:schemeClr val="bg1"/>
                  </a:solidFill>
                  <a:latin typeface="Nyutro Sans Bold"/>
                  <a:ea typeface="Calibri"/>
                  <a:cs typeface="Nyutro Sans Bold"/>
                </a:rPr>
                <a:t>Not accurate – only 26% prediction accuracy. </a:t>
              </a:r>
            </a:p>
            <a:p>
              <a:pPr>
                <a:lnSpc>
                  <a:spcPts val="3599"/>
                </a:lnSpc>
                <a:spcBef>
                  <a:spcPct val="0"/>
                </a:spcBef>
              </a:pPr>
              <a:r>
                <a:rPr lang="en-US" sz="3600" b="1" dirty="0">
                  <a:solidFill>
                    <a:schemeClr val="bg1"/>
                  </a:solidFill>
                  <a:latin typeface="Nyutro Sans Bold"/>
                  <a:ea typeface="Calibri"/>
                  <a:cs typeface="Nyutro Sans Bold"/>
                </a:rPr>
                <a:t>          Improvement choices  vary widely among Passengers. </a:t>
              </a:r>
            </a:p>
            <a:p>
              <a:pPr>
                <a:lnSpc>
                  <a:spcPts val="3599"/>
                </a:lnSpc>
                <a:spcBef>
                  <a:spcPct val="0"/>
                </a:spcBef>
              </a:pPr>
              <a:endParaRPr lang="en-US" sz="3600" b="1" dirty="0">
                <a:solidFill>
                  <a:schemeClr val="bg1"/>
                </a:solidFill>
                <a:latin typeface="Nyutro Sans Bold"/>
                <a:ea typeface="Calibri"/>
                <a:cs typeface="Nyutro Sans Bold"/>
              </a:endParaRPr>
            </a:p>
            <a:p>
              <a:pPr>
                <a:lnSpc>
                  <a:spcPts val="3599"/>
                </a:lnSpc>
                <a:spcBef>
                  <a:spcPct val="0"/>
                </a:spcBef>
              </a:pPr>
              <a:r>
                <a:rPr lang="en-US" sz="3600" b="1" dirty="0">
                  <a:solidFill>
                    <a:srgbClr val="FFFF00"/>
                  </a:solidFill>
                  <a:latin typeface="Nyutro Sans Bold"/>
                  <a:ea typeface="Calibri"/>
                  <a:cs typeface="Nyutro Sans Bold"/>
                </a:rPr>
                <a:t>2. Comfort vs  Demand for Comfort Improvements: </a:t>
              </a:r>
            </a:p>
            <a:p>
              <a:pPr>
                <a:lnSpc>
                  <a:spcPts val="3599"/>
                </a:lnSpc>
                <a:spcBef>
                  <a:spcPct val="0"/>
                </a:spcBef>
              </a:pPr>
              <a:r>
                <a:rPr lang="en-US" sz="3600" b="1" dirty="0">
                  <a:solidFill>
                    <a:srgbClr val="FFFF00"/>
                  </a:solidFill>
                  <a:latin typeface="Nyutro Sans Bold"/>
                  <a:ea typeface="Calibri"/>
                  <a:cs typeface="Nyutro Sans Bold"/>
                </a:rPr>
                <a:t>Ans: </a:t>
              </a:r>
              <a:r>
                <a:rPr lang="en-US" sz="3600" b="1" dirty="0">
                  <a:solidFill>
                    <a:schemeClr val="bg1"/>
                  </a:solidFill>
                  <a:latin typeface="Nyutro Sans Bold"/>
                  <a:ea typeface="Calibri"/>
                  <a:cs typeface="Nyutro Sans Bold"/>
                </a:rPr>
                <a:t>Only 11% of uncomfortable passengers ask for comfort upgrades. </a:t>
              </a:r>
            </a:p>
            <a:p>
              <a:pPr>
                <a:lnSpc>
                  <a:spcPts val="3599"/>
                </a:lnSpc>
                <a:spcBef>
                  <a:spcPct val="0"/>
                </a:spcBef>
              </a:pPr>
              <a:r>
                <a:rPr lang="en-US" sz="3600" b="1" dirty="0">
                  <a:solidFill>
                    <a:schemeClr val="bg1"/>
                  </a:solidFill>
                  <a:latin typeface="Nyutro Sans Bold"/>
                  <a:ea typeface="Calibri"/>
                  <a:cs typeface="Nyutro Sans Bold"/>
                </a:rPr>
                <a:t>          Most Passengers focus on other issues. </a:t>
              </a:r>
            </a:p>
            <a:p>
              <a:pPr>
                <a:lnSpc>
                  <a:spcPts val="3599"/>
                </a:lnSpc>
                <a:spcBef>
                  <a:spcPct val="0"/>
                </a:spcBef>
              </a:pPr>
              <a:endParaRPr lang="en-US" sz="3600" b="1" dirty="0">
                <a:solidFill>
                  <a:schemeClr val="bg1"/>
                </a:solidFill>
                <a:latin typeface="Nyutro Sans Bold"/>
                <a:ea typeface="Calibri"/>
                <a:cs typeface="Nyutro Sans Bold"/>
              </a:endParaRPr>
            </a:p>
            <a:p>
              <a:pPr>
                <a:lnSpc>
                  <a:spcPts val="3599"/>
                </a:lnSpc>
                <a:spcBef>
                  <a:spcPct val="0"/>
                </a:spcBef>
              </a:pPr>
              <a:r>
                <a:rPr lang="en-US" sz="3600" b="1" dirty="0">
                  <a:solidFill>
                    <a:srgbClr val="FFFF00"/>
                  </a:solidFill>
                  <a:latin typeface="Nyutro Sans Bold"/>
                  <a:ea typeface="Calibri"/>
                  <a:cs typeface="Nyutro Sans Bold"/>
                </a:rPr>
                <a:t>3. Safety Concerns ( Daily users vs Occasional Users) : </a:t>
              </a:r>
            </a:p>
            <a:p>
              <a:pPr>
                <a:lnSpc>
                  <a:spcPts val="3599"/>
                </a:lnSpc>
                <a:spcBef>
                  <a:spcPct val="0"/>
                </a:spcBef>
              </a:pPr>
              <a:r>
                <a:rPr lang="en-US" sz="3600" b="1" dirty="0">
                  <a:solidFill>
                    <a:srgbClr val="FFFF00"/>
                  </a:solidFill>
                  <a:latin typeface="Nyutro Sans Bold"/>
                  <a:ea typeface="Calibri"/>
                  <a:cs typeface="Nyutro Sans Bold"/>
                </a:rPr>
                <a:t>Ans: </a:t>
              </a:r>
              <a:r>
                <a:rPr lang="en-US" sz="3600" b="1" dirty="0">
                  <a:solidFill>
                    <a:schemeClr val="bg1"/>
                  </a:solidFill>
                  <a:latin typeface="Nyutro Sans Bold"/>
                  <a:ea typeface="Calibri"/>
                  <a:cs typeface="Nyutro Sans Bold"/>
                </a:rPr>
                <a:t>There was no such difference between both of the users . They all equally prioritize safety. </a:t>
              </a:r>
            </a:p>
            <a:p>
              <a:pPr>
                <a:lnSpc>
                  <a:spcPts val="3599"/>
                </a:lnSpc>
                <a:spcBef>
                  <a:spcPct val="0"/>
                </a:spcBef>
              </a:pPr>
              <a:endParaRPr lang="en-US" sz="3600" b="1" dirty="0">
                <a:solidFill>
                  <a:schemeClr val="bg1"/>
                </a:solidFill>
                <a:latin typeface="Nyutro Sans Bold"/>
                <a:ea typeface="Calibri"/>
                <a:cs typeface="Nyutro Sans Bold"/>
              </a:endParaRPr>
            </a:p>
            <a:p>
              <a:pPr>
                <a:lnSpc>
                  <a:spcPts val="3599"/>
                </a:lnSpc>
                <a:spcBef>
                  <a:spcPct val="0"/>
                </a:spcBef>
              </a:pPr>
              <a:r>
                <a:rPr lang="en-US" sz="3600" b="1" dirty="0">
                  <a:solidFill>
                    <a:srgbClr val="FFFF00"/>
                  </a:solidFill>
                  <a:latin typeface="Nyutro Sans Bold"/>
                  <a:ea typeface="Calibri"/>
                  <a:cs typeface="Nyutro Sans Bold"/>
                </a:rPr>
                <a:t>4. Occupation Based Preferences: </a:t>
              </a:r>
            </a:p>
            <a:p>
              <a:pPr>
                <a:lnSpc>
                  <a:spcPts val="3599"/>
                </a:lnSpc>
                <a:spcBef>
                  <a:spcPct val="0"/>
                </a:spcBef>
              </a:pPr>
              <a:r>
                <a:rPr lang="en-US" sz="3600" b="1" dirty="0">
                  <a:solidFill>
                    <a:srgbClr val="FFFF00"/>
                  </a:solidFill>
                  <a:latin typeface="Nyutro Sans Bold"/>
                  <a:ea typeface="Calibri"/>
                  <a:cs typeface="Nyutro Sans Bold"/>
                </a:rPr>
                <a:t>Ans: </a:t>
              </a:r>
              <a:r>
                <a:rPr lang="en-US" sz="3600" b="1" dirty="0">
                  <a:solidFill>
                    <a:schemeClr val="bg1"/>
                  </a:solidFill>
                  <a:latin typeface="Nyutro Sans Bold"/>
                  <a:ea typeface="Calibri"/>
                  <a:cs typeface="Nyutro Sans Bold"/>
                </a:rPr>
                <a:t>Professionals prefer better frequency, and Students prefer lower fare rates. </a:t>
              </a:r>
            </a:p>
            <a:p>
              <a:pPr>
                <a:lnSpc>
                  <a:spcPts val="3599"/>
                </a:lnSpc>
                <a:spcBef>
                  <a:spcPct val="0"/>
                </a:spcBef>
              </a:pPr>
              <a:endParaRPr lang="en-US" sz="3600" b="1" dirty="0">
                <a:solidFill>
                  <a:schemeClr val="bg1"/>
                </a:solidFill>
                <a:latin typeface="Nyutro Sans Bold"/>
                <a:ea typeface="Calibri"/>
                <a:cs typeface="Nyutro Sans Bold"/>
              </a:endParaRPr>
            </a:p>
            <a:p>
              <a:pPr>
                <a:lnSpc>
                  <a:spcPts val="3599"/>
                </a:lnSpc>
                <a:spcBef>
                  <a:spcPct val="0"/>
                </a:spcBef>
              </a:pPr>
              <a:r>
                <a:rPr lang="en-US" sz="3600" b="1" dirty="0">
                  <a:solidFill>
                    <a:srgbClr val="FFFF00"/>
                  </a:solidFill>
                  <a:latin typeface="Nyutro Sans Bold"/>
                  <a:ea typeface="Calibri"/>
                  <a:cs typeface="Nyutro Sans Bold"/>
                </a:rPr>
                <a:t>5. Age and Frequency Preference:</a:t>
              </a:r>
            </a:p>
            <a:p>
              <a:pPr>
                <a:lnSpc>
                  <a:spcPts val="3599"/>
                </a:lnSpc>
                <a:spcBef>
                  <a:spcPct val="0"/>
                </a:spcBef>
              </a:pPr>
              <a:r>
                <a:rPr lang="en-US" sz="3600" b="1" dirty="0">
                  <a:solidFill>
                    <a:srgbClr val="FFFF00"/>
                  </a:solidFill>
                  <a:latin typeface="Nyutro Sans Bold"/>
                  <a:ea typeface="Calibri"/>
                  <a:cs typeface="Nyutro Sans Bold"/>
                </a:rPr>
                <a:t>Ans: </a:t>
              </a:r>
              <a:r>
                <a:rPr lang="en-US" sz="3600" b="1" dirty="0">
                  <a:solidFill>
                    <a:schemeClr val="bg1"/>
                  </a:solidFill>
                  <a:latin typeface="Nyutro Sans Bold"/>
                  <a:ea typeface="Calibri"/>
                  <a:cs typeface="Nyutro Sans Bold"/>
                </a:rPr>
                <a:t>Old age Passengers prefer more frequency of trains. </a:t>
              </a:r>
            </a:p>
            <a:p>
              <a:pPr>
                <a:lnSpc>
                  <a:spcPts val="3599"/>
                </a:lnSpc>
                <a:spcBef>
                  <a:spcPct val="0"/>
                </a:spcBef>
              </a:pPr>
              <a:endParaRPr lang="en-US" sz="2950" b="1" dirty="0">
                <a:solidFill>
                  <a:srgbClr val="FFFFFF"/>
                </a:solidFill>
                <a:latin typeface="Nyutro Sans Bold"/>
                <a:ea typeface="Calibri"/>
                <a:cs typeface="Nyutro Sans Bold"/>
              </a:endParaRPr>
            </a:p>
            <a:p>
              <a:pPr>
                <a:lnSpc>
                  <a:spcPts val="3599"/>
                </a:lnSpc>
                <a:spcBef>
                  <a:spcPct val="0"/>
                </a:spcBef>
              </a:pPr>
              <a:r>
                <a:rPr lang="en-US" sz="2950" b="1" dirty="0">
                  <a:solidFill>
                    <a:srgbClr val="FFDC00"/>
                  </a:solidFill>
                  <a:latin typeface="Nyutro Sans Bold"/>
                  <a:ea typeface="Calibri"/>
                  <a:cs typeface="Nyutro Sans Bold"/>
                </a:rPr>
                <a:t>        </a:t>
              </a:r>
              <a:endParaRPr lang="en-US" dirty="0">
                <a:solidFill>
                  <a:srgbClr val="000000"/>
                </a:solidFill>
                <a:latin typeface="Nyutro Sans Bold"/>
                <a:ea typeface="Calibri"/>
                <a:cs typeface="Calibri"/>
              </a:endParaRPr>
            </a:p>
            <a:p>
              <a:pPr marL="514350" indent="-514350">
                <a:lnSpc>
                  <a:spcPts val="3599"/>
                </a:lnSpc>
                <a:spcBef>
                  <a:spcPct val="0"/>
                </a:spcBef>
                <a:buAutoNum type="arabicPeriod"/>
              </a:pPr>
              <a:endParaRPr lang="en-US" sz="2950" b="1" dirty="0">
                <a:solidFill>
                  <a:srgbClr val="FFDC00"/>
                </a:solidFill>
                <a:latin typeface="Nyutro Sans Bold"/>
                <a:ea typeface="Calibri"/>
                <a:cs typeface="Nyutro Sans Bold"/>
              </a:endParaRPr>
            </a:p>
            <a:p>
              <a:pPr marL="457200" indent="-457200">
                <a:lnSpc>
                  <a:spcPts val="3599"/>
                </a:lnSpc>
                <a:spcBef>
                  <a:spcPct val="0"/>
                </a:spcBef>
                <a:buAutoNum type="arabicPeriod"/>
              </a:pPr>
              <a:r>
                <a:rPr lang="en-US" dirty="0">
                  <a:ea typeface="Calibri"/>
                  <a:cs typeface="Calibri"/>
                </a:rPr>
                <a:t>    </a:t>
              </a:r>
              <a:r>
                <a:rPr lang="en-US" dirty="0" err="1">
                  <a:ea typeface="Calibri"/>
                  <a:cs typeface="Calibri"/>
                </a:rPr>
                <a:t>Comfor</a:t>
              </a:r>
              <a:r>
                <a:rPr lang="en-US" dirty="0">
                  <a:ea typeface="Calibri"/>
                  <a:cs typeface="Calibri"/>
                </a:rPr>
                <a:t> 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C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666750" y="522155"/>
            <a:ext cx="16954500" cy="1067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00"/>
              </a:lnSpc>
              <a:spcBef>
                <a:spcPct val="0"/>
              </a:spcBef>
            </a:pPr>
            <a:r>
              <a:rPr lang="en-US" sz="9000" b="1" spc="-89" dirty="0">
                <a:solidFill>
                  <a:srgbClr val="001F3F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Advanced Insights: </a:t>
            </a:r>
            <a:endParaRPr lang="en-US" sz="9000" b="1" u="none" strike="noStrike" spc="-89" dirty="0">
              <a:solidFill>
                <a:srgbClr val="001F3F"/>
              </a:solidFill>
              <a:latin typeface="Nyutro Sans Heavy"/>
              <a:ea typeface="Nyutro Sans Heavy"/>
              <a:cs typeface="Nyutro Sans Heavy"/>
              <a:sym typeface="Nyutro Sans Heavy"/>
            </a:endParaRPr>
          </a:p>
        </p:txBody>
      </p:sp>
      <p:sp>
        <p:nvSpPr>
          <p:cNvPr id="15" name="Freeform 15"/>
          <p:cNvSpPr/>
          <p:nvPr/>
        </p:nvSpPr>
        <p:spPr>
          <a:xfrm>
            <a:off x="3869306" y="3798277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6"/>
                </a:lnTo>
                <a:lnTo>
                  <a:pt x="0" y="899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2507171" y="3798277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8" y="0"/>
                </a:lnTo>
                <a:lnTo>
                  <a:pt x="1903308" y="899746"/>
                </a:lnTo>
                <a:lnTo>
                  <a:pt x="0" y="899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E38BBB-4941-BC31-A214-4D1DDE65E6BF}"/>
              </a:ext>
            </a:extLst>
          </p:cNvPr>
          <p:cNvSpPr txBox="1"/>
          <p:nvPr/>
        </p:nvSpPr>
        <p:spPr>
          <a:xfrm>
            <a:off x="-4525" y="2035848"/>
            <a:ext cx="18283570" cy="72943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71500" indent="-571500">
              <a:buFont typeface="Wingdings"/>
              <a:buChar char="Ø"/>
            </a:pPr>
            <a:r>
              <a:rPr lang="en-US" sz="3600" dirty="0">
                <a:latin typeface="Nyutro Sans Bold"/>
                <a:ea typeface="Calibri"/>
                <a:cs typeface="Calibri"/>
              </a:rPr>
              <a:t> </a:t>
            </a:r>
            <a:r>
              <a:rPr lang="en-US" sz="3600" dirty="0">
                <a:solidFill>
                  <a:srgbClr val="002060"/>
                </a:solidFill>
                <a:latin typeface="Nyutro Sans Bold"/>
                <a:ea typeface="Calibri"/>
                <a:cs typeface="Calibri"/>
              </a:rPr>
              <a:t>Distinct Commuters Type : </a:t>
            </a:r>
            <a:endParaRPr lang="en-US">
              <a:solidFill>
                <a:srgbClr val="002060"/>
              </a:solidFill>
              <a:latin typeface="Nyutro Sans Bold"/>
              <a:ea typeface="Calibri"/>
              <a:cs typeface="Calibri"/>
            </a:endParaRPr>
          </a:p>
          <a:p>
            <a:r>
              <a:rPr lang="en-US" sz="3600" dirty="0">
                <a:solidFill>
                  <a:srgbClr val="002060"/>
                </a:solidFill>
                <a:latin typeface="Nyutro Sans Bold"/>
                <a:ea typeface="Calibri"/>
                <a:cs typeface="Calibri"/>
              </a:rPr>
              <a:t>      Comfort Seekers- Value Seating and dislike crowding .</a:t>
            </a:r>
          </a:p>
          <a:p>
            <a:r>
              <a:rPr lang="en-US" sz="3600" dirty="0">
                <a:solidFill>
                  <a:srgbClr val="002060"/>
                </a:solidFill>
                <a:latin typeface="Nyutro Sans Bold"/>
                <a:ea typeface="Calibri"/>
                <a:cs typeface="Calibri"/>
              </a:rPr>
              <a:t>      Practical Commuters – Prioritize station access and frequency. </a:t>
            </a:r>
          </a:p>
          <a:p>
            <a:r>
              <a:rPr lang="en-US" sz="3600" dirty="0">
                <a:solidFill>
                  <a:srgbClr val="002060"/>
                </a:solidFill>
                <a:latin typeface="Nyutro Sans Bold"/>
                <a:ea typeface="Calibri"/>
                <a:cs typeface="Calibri"/>
              </a:rPr>
              <a:t>      Speed- Focused Travellers- Emphasize Punctuality and short travel time . </a:t>
            </a:r>
          </a:p>
          <a:p>
            <a:endParaRPr lang="en-US" sz="3600" dirty="0">
              <a:solidFill>
                <a:srgbClr val="002060"/>
              </a:solidFill>
              <a:latin typeface="Nyutro Sans Bold"/>
              <a:ea typeface="Calibri"/>
              <a:cs typeface="Calibri"/>
            </a:endParaRPr>
          </a:p>
          <a:p>
            <a:pPr marL="571500" indent="-571500">
              <a:buFont typeface="Wingdings"/>
              <a:buChar char="Ø"/>
            </a:pPr>
            <a:r>
              <a:rPr lang="en-US" sz="3600" dirty="0">
                <a:solidFill>
                  <a:srgbClr val="002060"/>
                </a:solidFill>
                <a:latin typeface="Nyutro Sans Bold"/>
                <a:ea typeface="Calibri"/>
                <a:cs typeface="Calibri"/>
              </a:rPr>
              <a:t>90 Passengers rated individual services high but overall satisfaction was low . This shows a perception gap between specific service quality and total experience. </a:t>
            </a:r>
          </a:p>
          <a:p>
            <a:endParaRPr lang="en-US" sz="3600" dirty="0">
              <a:solidFill>
                <a:srgbClr val="002060"/>
              </a:solidFill>
              <a:latin typeface="Nyutro Sans Bold"/>
              <a:ea typeface="Calibri"/>
              <a:cs typeface="Calibri"/>
            </a:endParaRPr>
          </a:p>
          <a:p>
            <a:pPr marL="571500" indent="-571500">
              <a:buFont typeface="Wingdings"/>
              <a:buChar char="Ø"/>
            </a:pPr>
            <a:r>
              <a:rPr lang="en-US" sz="3600" dirty="0">
                <a:solidFill>
                  <a:srgbClr val="002060"/>
                </a:solidFill>
                <a:latin typeface="Nyutro Sans Bold"/>
                <a:ea typeface="Calibri"/>
                <a:cs typeface="Calibri"/>
              </a:rPr>
              <a:t> There were no such true average respondents found. People do tend to rate either positively or negatively . </a:t>
            </a:r>
          </a:p>
          <a:p>
            <a:endParaRPr lang="en-US" sz="3600" dirty="0">
              <a:solidFill>
                <a:srgbClr val="002060"/>
              </a:solidFill>
              <a:latin typeface="Nyutro Sans Bold"/>
              <a:ea typeface="Calibri"/>
              <a:cs typeface="Calibri"/>
            </a:endParaRPr>
          </a:p>
          <a:p>
            <a:pPr marL="571500" indent="-571500">
              <a:buFont typeface="Wingdings"/>
              <a:buChar char="Ø"/>
            </a:pPr>
            <a:r>
              <a:rPr lang="en-US" sz="3600" dirty="0">
                <a:solidFill>
                  <a:srgbClr val="002060"/>
                </a:solidFill>
                <a:latin typeface="Nyutro Sans Bold"/>
                <a:ea typeface="Calibri"/>
                <a:cs typeface="Calibri"/>
              </a:rPr>
              <a:t>Distribution of scores is polarized mostly 4s and 5s or 1s and 2s , there were many few 3s.</a:t>
            </a:r>
            <a:r>
              <a:rPr lang="en-US" sz="3600" dirty="0">
                <a:solidFill>
                  <a:srgbClr val="002060"/>
                </a:solidFill>
                <a:ea typeface="Calibri"/>
                <a:cs typeface="Calibri"/>
              </a:rPr>
              <a:t> 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F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666750" y="419459"/>
            <a:ext cx="16954500" cy="1067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00"/>
              </a:lnSpc>
              <a:spcBef>
                <a:spcPct val="0"/>
              </a:spcBef>
            </a:pPr>
            <a:r>
              <a:rPr lang="en-US" sz="9000" b="1" spc="-89" dirty="0">
                <a:solidFill>
                  <a:srgbClr val="FFFF00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Special Findings: </a:t>
            </a:r>
            <a:endParaRPr lang="en-US" sz="9000" b="1" u="none" strike="noStrike" spc="-89" dirty="0">
              <a:solidFill>
                <a:srgbClr val="FFFF00"/>
              </a:solidFill>
              <a:latin typeface="Nyutro Sans Heavy"/>
              <a:ea typeface="Nyutro Sans Heavy"/>
              <a:cs typeface="Nyutro Sans Heavy"/>
              <a:sym typeface="Nyutro Sans Heavy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10734675" y="5143500"/>
            <a:ext cx="5448300" cy="1860550"/>
            <a:chOff x="0" y="0"/>
            <a:chExt cx="7264400" cy="2480733"/>
          </a:xfrm>
        </p:grpSpPr>
        <p:sp>
          <p:nvSpPr>
            <p:cNvPr id="10" name="TextBox 10"/>
            <p:cNvSpPr txBox="1"/>
            <p:nvPr/>
          </p:nvSpPr>
          <p:spPr>
            <a:xfrm>
              <a:off x="0" y="38100"/>
              <a:ext cx="7264400" cy="1181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400"/>
                </a:lnSpc>
              </a:pPr>
              <a:r>
                <a:rPr lang="en-US" sz="6000" b="1" spc="-60">
                  <a:solidFill>
                    <a:srgbClr val="001F3F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Safety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301750"/>
              <a:ext cx="7264400" cy="11789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 strike="noStrike">
                  <a:solidFill>
                    <a:srgbClr val="001F3F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Safety and comfort can </a:t>
              </a:r>
              <a:r>
                <a:rPr lang="en-US" sz="2499" b="1" u="none" strike="noStrike">
                  <a:solidFill>
                    <a:srgbClr val="001F3F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partially predict</a:t>
              </a:r>
              <a:r>
                <a:rPr lang="en-US" sz="2499" u="none" strike="noStrike">
                  <a:solidFill>
                    <a:srgbClr val="001F3F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satisfaction with 70% accuracy.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096809" y="5143500"/>
            <a:ext cx="5448300" cy="2298700"/>
            <a:chOff x="0" y="0"/>
            <a:chExt cx="7264400" cy="3064933"/>
          </a:xfrm>
        </p:grpSpPr>
        <p:sp>
          <p:nvSpPr>
            <p:cNvPr id="13" name="TextBox 13"/>
            <p:cNvSpPr txBox="1"/>
            <p:nvPr/>
          </p:nvSpPr>
          <p:spPr>
            <a:xfrm>
              <a:off x="0" y="38100"/>
              <a:ext cx="7264400" cy="11811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5400"/>
                </a:lnSpc>
              </a:pPr>
              <a:r>
                <a:rPr lang="en-US" sz="6000" b="1" spc="-60">
                  <a:solidFill>
                    <a:srgbClr val="001F3F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Access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301750"/>
              <a:ext cx="7264400" cy="17631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 u="none" strike="noStrike">
                  <a:solidFill>
                    <a:srgbClr val="001F3F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Access to stations is the </a:t>
              </a:r>
              <a:r>
                <a:rPr lang="en-US" sz="2499" b="1" u="none" strike="noStrike">
                  <a:solidFill>
                    <a:srgbClr val="001F3F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most critical factor</a:t>
              </a:r>
              <a:r>
                <a:rPr lang="en-US" sz="2499" u="none" strike="noStrike">
                  <a:solidFill>
                    <a:srgbClr val="001F3F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influencing commuter satisfaction.</a:t>
              </a:r>
            </a:p>
          </p:txBody>
        </p:sp>
      </p:grpSp>
      <p:sp>
        <p:nvSpPr>
          <p:cNvPr id="15" name="Freeform 15"/>
          <p:cNvSpPr/>
          <p:nvPr/>
        </p:nvSpPr>
        <p:spPr>
          <a:xfrm>
            <a:off x="3869306" y="3798277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7" y="0"/>
                </a:lnTo>
                <a:lnTo>
                  <a:pt x="1903307" y="899746"/>
                </a:lnTo>
                <a:lnTo>
                  <a:pt x="0" y="899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2507171" y="3798277"/>
            <a:ext cx="1903307" cy="899745"/>
          </a:xfrm>
          <a:custGeom>
            <a:avLst/>
            <a:gdLst/>
            <a:ahLst/>
            <a:cxnLst/>
            <a:rect l="l" t="t" r="r" b="b"/>
            <a:pathLst>
              <a:path w="1903307" h="899745">
                <a:moveTo>
                  <a:pt x="0" y="0"/>
                </a:moveTo>
                <a:lnTo>
                  <a:pt x="1903308" y="0"/>
                </a:lnTo>
                <a:lnTo>
                  <a:pt x="1903308" y="899746"/>
                </a:lnTo>
                <a:lnTo>
                  <a:pt x="0" y="899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FBAAA5-B449-3CD6-F53B-14CDC02D0BF8}"/>
              </a:ext>
            </a:extLst>
          </p:cNvPr>
          <p:cNvSpPr txBox="1"/>
          <p:nvPr/>
        </p:nvSpPr>
        <p:spPr>
          <a:xfrm>
            <a:off x="4523" y="1890661"/>
            <a:ext cx="18201859" cy="67403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Wingdings"/>
              <a:buChar char="Ø"/>
            </a:pPr>
            <a:r>
              <a:rPr lang="en-US" sz="3600" dirty="0">
                <a:solidFill>
                  <a:srgbClr val="FFFF00"/>
                </a:solidFill>
                <a:latin typeface="Nyutro Sans Bold"/>
                <a:ea typeface="Calibri"/>
                <a:cs typeface="Calibri"/>
              </a:rPr>
              <a:t>Good Access vs Mode Reliance : </a:t>
            </a:r>
          </a:p>
          <a:p>
            <a:r>
              <a:rPr lang="en-US" sz="3600" dirty="0">
                <a:solidFill>
                  <a:schemeClr val="bg1"/>
                </a:solidFill>
                <a:latin typeface="Nyutro Sans Bold"/>
                <a:ea typeface="Calibri"/>
                <a:cs typeface="Calibri"/>
              </a:rPr>
              <a:t>       Even the passengers with good access continue using autos, buses, or metros . </a:t>
            </a:r>
          </a:p>
          <a:p>
            <a:r>
              <a:rPr lang="en-US" sz="3600" dirty="0">
                <a:solidFill>
                  <a:schemeClr val="bg1"/>
                </a:solidFill>
                <a:latin typeface="Nyutro Sans Bold"/>
                <a:ea typeface="Calibri"/>
                <a:cs typeface="Calibri"/>
              </a:rPr>
              <a:t>       They were not limited to trains. This showed Flexibility among commuters.</a:t>
            </a:r>
            <a:endParaRPr lang="en-US" dirty="0" err="1">
              <a:solidFill>
                <a:schemeClr val="bg1"/>
              </a:solidFill>
            </a:endParaRPr>
          </a:p>
          <a:p>
            <a:r>
              <a:rPr lang="en-US" sz="3600" dirty="0">
                <a:solidFill>
                  <a:schemeClr val="bg1"/>
                </a:solidFill>
                <a:latin typeface="Nyutro Sans Bold"/>
                <a:ea typeface="Calibri"/>
                <a:cs typeface="Calibri"/>
              </a:rPr>
              <a:t>       </a:t>
            </a:r>
          </a:p>
          <a:p>
            <a:pPr marL="285750" indent="-285750">
              <a:buFont typeface="Wingdings"/>
              <a:buChar char="Ø"/>
            </a:pPr>
            <a:r>
              <a:rPr lang="en-US" sz="3600" dirty="0">
                <a:solidFill>
                  <a:srgbClr val="FFFF00"/>
                </a:solidFill>
                <a:latin typeface="Nyutro Sans Bold"/>
                <a:ea typeface="Calibri"/>
                <a:cs typeface="Calibri"/>
              </a:rPr>
              <a:t>Payment Method and Satisfaction :</a:t>
            </a:r>
          </a:p>
          <a:p>
            <a:r>
              <a:rPr lang="en-US" sz="3600" dirty="0">
                <a:solidFill>
                  <a:schemeClr val="bg1"/>
                </a:solidFill>
                <a:latin typeface="Nyutro Sans Bold"/>
                <a:ea typeface="Calibri"/>
                <a:cs typeface="Calibri"/>
              </a:rPr>
              <a:t>      Digital vs Cash users show no significant difference in satisfaction levels. </a:t>
            </a:r>
          </a:p>
          <a:p>
            <a:r>
              <a:rPr lang="en-US" sz="3600" dirty="0">
                <a:solidFill>
                  <a:schemeClr val="bg1"/>
                </a:solidFill>
                <a:latin typeface="Nyutro Sans Bold"/>
                <a:ea typeface="Calibri"/>
                <a:cs typeface="Calibri"/>
              </a:rPr>
              <a:t>      This indicates that payment choice is based on habit and convenience. </a:t>
            </a:r>
          </a:p>
          <a:p>
            <a:endParaRPr lang="en-US" sz="3600" dirty="0">
              <a:solidFill>
                <a:schemeClr val="bg1"/>
              </a:solidFill>
              <a:latin typeface="Nyutro Sans Bold"/>
              <a:ea typeface="Calibri"/>
              <a:cs typeface="Calibri"/>
            </a:endParaRPr>
          </a:p>
          <a:p>
            <a:pPr marL="285750" indent="-285750">
              <a:buFont typeface="Wingdings"/>
              <a:buChar char="Ø"/>
            </a:pPr>
            <a:r>
              <a:rPr lang="en-US" sz="3600" dirty="0">
                <a:solidFill>
                  <a:srgbClr val="FFFF00"/>
                </a:solidFill>
                <a:latin typeface="Nyutro Sans Bold"/>
                <a:ea typeface="Calibri"/>
                <a:cs typeface="Calibri"/>
              </a:rPr>
              <a:t>Daily Commuters and Comfort: </a:t>
            </a:r>
          </a:p>
          <a:p>
            <a:r>
              <a:rPr lang="en-US" sz="3600" dirty="0">
                <a:solidFill>
                  <a:schemeClr val="bg1"/>
                </a:solidFill>
                <a:latin typeface="Nyutro Sans Bold"/>
                <a:ea typeface="Calibri"/>
                <a:cs typeface="Calibri"/>
              </a:rPr>
              <a:t>     Daily commuters do not adapt to discomfort; comfort rating was same as occasional                                users. </a:t>
            </a:r>
          </a:p>
          <a:p>
            <a:r>
              <a:rPr lang="en-US" sz="3600" dirty="0">
                <a:solidFill>
                  <a:schemeClr val="bg1"/>
                </a:solidFill>
                <a:latin typeface="Nyutro Sans Bold"/>
                <a:ea typeface="Calibri"/>
                <a:cs typeface="Calibri"/>
              </a:rPr>
              <a:t>     Daily users rate comfort 3.2/5, almost same as occasional users( 3.3/5).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666749" y="884926"/>
            <a:ext cx="10746895" cy="10676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8100"/>
              </a:lnSpc>
              <a:spcBef>
                <a:spcPct val="0"/>
              </a:spcBef>
            </a:pPr>
            <a:r>
              <a:rPr lang="en-IN" sz="9000" dirty="0">
                <a:solidFill>
                  <a:srgbClr val="FFFF00"/>
                </a:solidFill>
                <a:latin typeface="Nyutro Sans"/>
                <a:cs typeface="Nyutro Sans"/>
              </a:rPr>
              <a:t>Key Takeaways</a:t>
            </a:r>
            <a:endParaRPr lang="en-US" sz="9000" b="1" u="none" strike="noStrike" spc="-89" dirty="0">
              <a:solidFill>
                <a:srgbClr val="FFFF00"/>
              </a:solidFill>
              <a:latin typeface="Nyutro Sans"/>
              <a:ea typeface="Nyutro Sans Heavy"/>
              <a:cs typeface="Nyutro Sans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13149381" y="635000"/>
            <a:ext cx="4757621" cy="7285950"/>
            <a:chOff x="0" y="0"/>
            <a:chExt cx="2607195" cy="277072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607195" cy="2770723"/>
            </a:xfrm>
            <a:custGeom>
              <a:avLst/>
              <a:gdLst/>
              <a:ahLst/>
              <a:cxnLst/>
              <a:rect l="l" t="t" r="r" b="b"/>
              <a:pathLst>
                <a:path w="2607195" h="2770723">
                  <a:moveTo>
                    <a:pt x="2119752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2593050"/>
                  </a:lnTo>
                  <a:cubicBezTo>
                    <a:pt x="0" y="2691176"/>
                    <a:pt x="79547" y="2770723"/>
                    <a:pt x="177673" y="2770723"/>
                  </a:cubicBezTo>
                  <a:lnTo>
                    <a:pt x="2429522" y="2770723"/>
                  </a:lnTo>
                  <a:cubicBezTo>
                    <a:pt x="2527648" y="2770723"/>
                    <a:pt x="2607195" y="2691176"/>
                    <a:pt x="2607195" y="2593050"/>
                  </a:cubicBezTo>
                  <a:lnTo>
                    <a:pt x="2607195" y="523958"/>
                  </a:lnTo>
                  <a:cubicBezTo>
                    <a:pt x="2607195" y="480251"/>
                    <a:pt x="2591085" y="438079"/>
                    <a:pt x="2561946" y="405503"/>
                  </a:cubicBezTo>
                  <a:lnTo>
                    <a:pt x="2252169" y="59214"/>
                  </a:lnTo>
                  <a:cubicBezTo>
                    <a:pt x="2218465" y="21536"/>
                    <a:pt x="2170306" y="0"/>
                    <a:pt x="2119752" y="0"/>
                  </a:cubicBezTo>
                  <a:close/>
                </a:path>
              </a:pathLst>
            </a:custGeom>
            <a:blipFill>
              <a:blip r:embed="rId2"/>
              <a:stretch>
                <a:fillRect t="-252" b="-252"/>
              </a:stretch>
            </a:blipFill>
          </p:spPr>
        </p:sp>
      </p:grpSp>
      <p:sp>
        <p:nvSpPr>
          <p:cNvPr id="10" name="Rectangle 5">
            <a:extLst>
              <a:ext uri="{FF2B5EF4-FFF2-40B4-BE49-F238E27FC236}">
                <a16:creationId xmlns:a16="http://schemas.microsoft.com/office/drawing/2014/main" id="{483AFFEC-9243-CF8D-C98F-EA2930174F7F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666749" y="3131032"/>
            <a:ext cx="12491049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yutro Sans"/>
                <a:cs typeface="Nyutro Sans"/>
              </a:rPr>
              <a:t>Station access → top driver (r = +0.82; 2.3× more satisfied)</a:t>
            </a:r>
            <a:endParaRPr lang="en-US" altLang="en-US" sz="3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yutro Sans"/>
              <a:cs typeface="Nyutro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yutro Sans"/>
                <a:cs typeface="Nyutro Sans"/>
              </a:rPr>
              <a:t>Seat availability → predictable (96% accuracy)</a:t>
            </a:r>
            <a:endParaRPr lang="en-US" altLang="en-US" sz="3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yutro Sans"/>
              <a:cs typeface="Nyutro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yutro Sans"/>
                <a:cs typeface="Nyutro Sans"/>
              </a:rPr>
              <a:t>Digital payment → demographics-driven (78% accuracy)</a:t>
            </a:r>
            <a:endParaRPr lang="en-US" altLang="en-US" sz="3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yutro Sans"/>
              <a:cs typeface="Nyutro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yutro Sans"/>
                <a:cs typeface="Nyutro Sans"/>
              </a:rPr>
              <a:t>Multimodal users → not less satisfied (3.51 vs 3.32)</a:t>
            </a:r>
            <a:endParaRPr lang="en-US" altLang="en-US" sz="3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yutro Sans"/>
              <a:cs typeface="Nyutro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yutro Sans"/>
                <a:cs typeface="Nyutro Sans"/>
              </a:rPr>
              <a:t>Occupation → shapes priorities (Professionals: 27% frequency; Students: 14% lower fares)</a:t>
            </a:r>
            <a:endParaRPr lang="en-US" altLang="en-US" sz="3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yutro Sans"/>
              <a:cs typeface="Nyutro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yutro Sans"/>
                <a:cs typeface="Nyutro Sans"/>
              </a:rPr>
              <a:t>Perception gaps exist (90 users rated high service but low overall satisfaction)</a:t>
            </a:r>
            <a:endParaRPr lang="en-US" altLang="en-US" sz="3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yutro Sans"/>
              <a:cs typeface="Nyutro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A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A1BA6B-A853-C1F6-909C-24DA684DB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7FDFD4FF-656A-E591-7BF8-245CFC6379A1}"/>
              </a:ext>
            </a:extLst>
          </p:cNvPr>
          <p:cNvSpPr txBox="1"/>
          <p:nvPr/>
        </p:nvSpPr>
        <p:spPr>
          <a:xfrm>
            <a:off x="666749" y="647700"/>
            <a:ext cx="6886575" cy="1100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>
              <a:lnSpc>
                <a:spcPts val="8100"/>
              </a:lnSpc>
              <a:spcBef>
                <a:spcPct val="0"/>
              </a:spcBef>
            </a:pPr>
            <a:r>
              <a:rPr lang="en-IN" sz="9600" b="1" dirty="0">
                <a:solidFill>
                  <a:srgbClr val="FFFF00"/>
                </a:solidFill>
                <a:latin typeface="Nyutro Sans"/>
                <a:cs typeface="Nyutro Sans"/>
              </a:rPr>
              <a:t>Final Note</a:t>
            </a:r>
            <a:endParaRPr lang="en-US" sz="9000" b="1" u="none" strike="noStrike" spc="-89" dirty="0">
              <a:solidFill>
                <a:srgbClr val="FFFF00"/>
              </a:solidFill>
              <a:latin typeface="Nyutro Sans"/>
              <a:ea typeface="Nyutro Sans Heavy"/>
              <a:cs typeface="Nyutro Sans"/>
              <a:sym typeface="Nyutro Sans Heavy"/>
            </a:endParaRP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220E555A-7300-B55F-5F22-1C319AF39D8C}"/>
              </a:ext>
            </a:extLst>
          </p:cNvPr>
          <p:cNvGrpSpPr/>
          <p:nvPr/>
        </p:nvGrpSpPr>
        <p:grpSpPr>
          <a:xfrm>
            <a:off x="13149381" y="635000"/>
            <a:ext cx="4757621" cy="7285950"/>
            <a:chOff x="0" y="0"/>
            <a:chExt cx="2607195" cy="2770723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589036A6-2EC1-3CA6-7E3D-13FFA66E6301}"/>
                </a:ext>
              </a:extLst>
            </p:cNvPr>
            <p:cNvSpPr/>
            <p:nvPr/>
          </p:nvSpPr>
          <p:spPr>
            <a:xfrm>
              <a:off x="0" y="0"/>
              <a:ext cx="2607195" cy="2770723"/>
            </a:xfrm>
            <a:custGeom>
              <a:avLst/>
              <a:gdLst/>
              <a:ahLst/>
              <a:cxnLst/>
              <a:rect l="l" t="t" r="r" b="b"/>
              <a:pathLst>
                <a:path w="2607195" h="2770723">
                  <a:moveTo>
                    <a:pt x="2119752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2593050"/>
                  </a:lnTo>
                  <a:cubicBezTo>
                    <a:pt x="0" y="2691176"/>
                    <a:pt x="79547" y="2770723"/>
                    <a:pt x="177673" y="2770723"/>
                  </a:cubicBezTo>
                  <a:lnTo>
                    <a:pt x="2429522" y="2770723"/>
                  </a:lnTo>
                  <a:cubicBezTo>
                    <a:pt x="2527648" y="2770723"/>
                    <a:pt x="2607195" y="2691176"/>
                    <a:pt x="2607195" y="2593050"/>
                  </a:cubicBezTo>
                  <a:lnTo>
                    <a:pt x="2607195" y="523958"/>
                  </a:lnTo>
                  <a:cubicBezTo>
                    <a:pt x="2607195" y="480251"/>
                    <a:pt x="2591085" y="438079"/>
                    <a:pt x="2561946" y="405503"/>
                  </a:cubicBezTo>
                  <a:lnTo>
                    <a:pt x="2252169" y="59214"/>
                  </a:lnTo>
                  <a:cubicBezTo>
                    <a:pt x="2218465" y="21536"/>
                    <a:pt x="2170306" y="0"/>
                    <a:pt x="2119752" y="0"/>
                  </a:cubicBezTo>
                  <a:close/>
                </a:path>
              </a:pathLst>
            </a:custGeom>
            <a:blipFill>
              <a:blip r:embed="rId2"/>
              <a:stretch>
                <a:fillRect t="-252" b="-252"/>
              </a:stretch>
            </a:blipFill>
          </p:spPr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59A22B9-EE76-7D48-3A99-3C29A0A00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325" y="1755885"/>
            <a:ext cx="12877800" cy="8402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yutro Sans"/>
                <a:cs typeface="Nyutro Sans"/>
              </a:rPr>
              <a:t>Station access &amp; seat availability are critical → top drivers of satisfaction (r = +0.82; 2.3× more satisfied)</a:t>
            </a:r>
            <a:endParaRPr lang="en-US" altLang="en-US" sz="3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yutro Sans"/>
              <a:cs typeface="Nyutro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yutro Sans"/>
                <a:cs typeface="Nyutro Sans"/>
              </a:rPr>
              <a:t>Safety, cleanliness &amp; frequency improvements improve comfort and confidence</a:t>
            </a:r>
            <a:endParaRPr lang="en-US" altLang="en-US" sz="3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yutro Sans"/>
              <a:cs typeface="Nyutro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yutro Sans"/>
                <a:cs typeface="Nyutro Sans"/>
              </a:rPr>
              <a:t>Digital adoption &amp; improvement priorities vary by demographics (78% accuracy predicting payment method; Professionals prioritize frequency, Students prioritize fares)</a:t>
            </a:r>
            <a:endParaRPr lang="en-US" altLang="en-US" sz="3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yutro Sans"/>
              <a:cs typeface="Nyutro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yutro Sans"/>
                <a:cs typeface="Nyutro Sans"/>
              </a:rPr>
              <a:t>Multimodal users remain satisfied → flexibility is valued</a:t>
            </a:r>
            <a:endParaRPr lang="en-US" altLang="en-US" sz="3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yutro Sans"/>
              <a:cs typeface="Nyutro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yutro Sans"/>
                <a:cs typeface="Nyutro Sans"/>
              </a:rPr>
              <a:t>Perception gaps exist → targeted communication needed (90 users rated high service but low overall satisfaction)</a:t>
            </a:r>
            <a:endParaRPr lang="en-US" altLang="en-US" sz="3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yutro Sans"/>
              <a:cs typeface="Nyutro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yutro Sans"/>
                <a:cs typeface="Nyutro Sans"/>
              </a:rPr>
              <a:t>Techniques &amp; Tools Used: Surveys, statistical analysis, ML methods (correlation, clustering, predictive modeling)</a:t>
            </a:r>
            <a:endParaRPr lang="en-US" altLang="en-US" sz="3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yutro Sans"/>
              <a:cs typeface="Nyutro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yutro Sans"/>
                <a:cs typeface="Nyutro Sans"/>
              </a:rPr>
              <a:t>Visuals &amp; Design: Charts, icons, ML-inspired theme for clarity</a:t>
            </a:r>
            <a:endParaRPr lang="en-US" altLang="en-US" sz="3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yutro Sans"/>
              <a:cs typeface="Nyutro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Nyutro Sans"/>
                <a:cs typeface="Nyutro Sans"/>
              </a:rPr>
              <a:t>Acknowledgment: Thanks to survey participants, faculty, and team</a:t>
            </a:r>
            <a:endParaRPr lang="en-US" altLang="en-US" sz="360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Nyutro Sans"/>
              <a:cs typeface="Nyutro Sans"/>
            </a:endParaRPr>
          </a:p>
        </p:txBody>
      </p:sp>
    </p:spTree>
    <p:extLst>
      <p:ext uri="{BB962C8B-B14F-4D97-AF65-F5344CB8AC3E}">
        <p14:creationId xmlns:p14="http://schemas.microsoft.com/office/powerpoint/2010/main" val="15502385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C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EB7463-2F3D-9C7B-DCCF-0FD984DE7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0ABFFC05-E32D-1C76-2904-B7EDFC01DB18}"/>
              </a:ext>
            </a:extLst>
          </p:cNvPr>
          <p:cNvGrpSpPr/>
          <p:nvPr/>
        </p:nvGrpSpPr>
        <p:grpSpPr>
          <a:xfrm>
            <a:off x="666750" y="7758112"/>
            <a:ext cx="4010025" cy="946706"/>
            <a:chOff x="0" y="-95250"/>
            <a:chExt cx="5346700" cy="1262274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882DFF41-8987-3508-A8E5-8785A2B69AAF}"/>
                </a:ext>
              </a:extLst>
            </p:cNvPr>
            <p:cNvSpPr txBox="1"/>
            <p:nvPr/>
          </p:nvSpPr>
          <p:spPr>
            <a:xfrm>
              <a:off x="0" y="611316"/>
              <a:ext cx="5346700" cy="5557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endParaRPr lang="en-US" sz="2499" u="none" strike="noStrike">
                <a:solidFill>
                  <a:srgbClr val="FFFF4D"/>
                </a:solidFill>
                <a:latin typeface="Nyutro Sans"/>
                <a:ea typeface="Nyutro Sans"/>
                <a:cs typeface="Nyutro Sans"/>
                <a:sym typeface="Nyutro San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63941CD4-1B5E-7B59-B0FE-6FC55E8636A8}"/>
                </a:ext>
              </a:extLst>
            </p:cNvPr>
            <p:cNvSpPr txBox="1"/>
            <p:nvPr/>
          </p:nvSpPr>
          <p:spPr>
            <a:xfrm>
              <a:off x="0" y="-95250"/>
              <a:ext cx="5346700" cy="594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</a:pPr>
              <a:r>
                <a:rPr lang="en-US" sz="2499" b="1">
                  <a:solidFill>
                    <a:srgbClr val="FFDC00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Email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1CDB8D1D-C1BE-ED93-DB6C-8A9541B7EE47}"/>
              </a:ext>
            </a:extLst>
          </p:cNvPr>
          <p:cNvGrpSpPr/>
          <p:nvPr/>
        </p:nvGrpSpPr>
        <p:grpSpPr>
          <a:xfrm>
            <a:off x="4981575" y="7758112"/>
            <a:ext cx="4010025" cy="946706"/>
            <a:chOff x="0" y="-95250"/>
            <a:chExt cx="5346700" cy="1262274"/>
          </a:xfrm>
        </p:grpSpPr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EE09E7E9-57DE-E1DB-9355-A309582EC9D0}"/>
                </a:ext>
              </a:extLst>
            </p:cNvPr>
            <p:cNvSpPr txBox="1"/>
            <p:nvPr/>
          </p:nvSpPr>
          <p:spPr>
            <a:xfrm>
              <a:off x="0" y="611316"/>
              <a:ext cx="5346700" cy="5557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endParaRPr lang="en-US" sz="2499" u="none" strike="noStrike">
                <a:solidFill>
                  <a:srgbClr val="FFFF4D"/>
                </a:solidFill>
                <a:latin typeface="Nyutro Sans"/>
                <a:ea typeface="Nyutro Sans"/>
                <a:cs typeface="Nyutro Sans"/>
                <a:sym typeface="Nyutro Sans"/>
              </a:endParaRP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DD9AC5F9-31E9-E7AC-C12F-637CF3E9AC11}"/>
                </a:ext>
              </a:extLst>
            </p:cNvPr>
            <p:cNvSpPr txBox="1"/>
            <p:nvPr/>
          </p:nvSpPr>
          <p:spPr>
            <a:xfrm>
              <a:off x="0" y="-95250"/>
              <a:ext cx="5346700" cy="594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 u="none" strike="noStrike">
                  <a:solidFill>
                    <a:srgbClr val="FFDC00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Social Media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6027D98C-EC15-414C-1C46-F66CC3001D7D}"/>
              </a:ext>
            </a:extLst>
          </p:cNvPr>
          <p:cNvGrpSpPr/>
          <p:nvPr/>
        </p:nvGrpSpPr>
        <p:grpSpPr>
          <a:xfrm>
            <a:off x="9296400" y="7758112"/>
            <a:ext cx="4010025" cy="946706"/>
            <a:chOff x="0" y="-95250"/>
            <a:chExt cx="5346700" cy="1262274"/>
          </a:xfrm>
        </p:grpSpPr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4BA38CC0-42BE-5EEA-B156-7D11EB8DB576}"/>
                </a:ext>
              </a:extLst>
            </p:cNvPr>
            <p:cNvSpPr txBox="1"/>
            <p:nvPr/>
          </p:nvSpPr>
          <p:spPr>
            <a:xfrm>
              <a:off x="0" y="611316"/>
              <a:ext cx="5346700" cy="5557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</a:pPr>
              <a:endParaRPr lang="en-US" sz="2499">
                <a:solidFill>
                  <a:srgbClr val="FFFF4D"/>
                </a:solidFill>
                <a:latin typeface="Nyutro Sans"/>
                <a:ea typeface="Nyutro Sans"/>
                <a:cs typeface="Nyutro Sans"/>
                <a:sym typeface="Nyutro Sans"/>
              </a:endParaRPr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6833A4D8-7F75-147C-1276-FB3322057FBC}"/>
                </a:ext>
              </a:extLst>
            </p:cNvPr>
            <p:cNvSpPr txBox="1"/>
            <p:nvPr/>
          </p:nvSpPr>
          <p:spPr>
            <a:xfrm>
              <a:off x="0" y="-95250"/>
              <a:ext cx="5346700" cy="5557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 u="none" strike="noStrike">
                  <a:solidFill>
                    <a:srgbClr val="FFDC00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Pone</a:t>
              </a:r>
            </a:p>
          </p:txBody>
        </p:sp>
      </p:grpSp>
      <p:grpSp>
        <p:nvGrpSpPr>
          <p:cNvPr id="15" name="Group 2">
            <a:extLst>
              <a:ext uri="{FF2B5EF4-FFF2-40B4-BE49-F238E27FC236}">
                <a16:creationId xmlns:a16="http://schemas.microsoft.com/office/drawing/2014/main" id="{E85A4559-A123-7516-6E83-74E2738FEF2B}"/>
              </a:ext>
            </a:extLst>
          </p:cNvPr>
          <p:cNvGrpSpPr/>
          <p:nvPr/>
        </p:nvGrpSpPr>
        <p:grpSpPr>
          <a:xfrm>
            <a:off x="-1752600" y="999606"/>
            <a:ext cx="17849851" cy="8287784"/>
            <a:chOff x="0" y="-198591"/>
            <a:chExt cx="2960974" cy="2182791"/>
          </a:xfrm>
        </p:grpSpPr>
        <p:sp>
          <p:nvSpPr>
            <p:cNvPr id="16" name="Freeform 3">
              <a:extLst>
                <a:ext uri="{FF2B5EF4-FFF2-40B4-BE49-F238E27FC236}">
                  <a16:creationId xmlns:a16="http://schemas.microsoft.com/office/drawing/2014/main" id="{0C8AFFD5-EA5D-E339-6240-53E4C710B5DE}"/>
                </a:ext>
              </a:extLst>
            </p:cNvPr>
            <p:cNvSpPr/>
            <p:nvPr/>
          </p:nvSpPr>
          <p:spPr>
            <a:xfrm>
              <a:off x="442408" y="-198591"/>
              <a:ext cx="2518566" cy="2182791"/>
            </a:xfrm>
            <a:custGeom>
              <a:avLst/>
              <a:gdLst/>
              <a:ahLst/>
              <a:cxnLst/>
              <a:rect l="l" t="t" r="r" b="b"/>
              <a:pathLst>
                <a:path w="2192553" h="1886499">
                  <a:moveTo>
                    <a:pt x="23249" y="0"/>
                  </a:moveTo>
                  <a:lnTo>
                    <a:pt x="2169304" y="0"/>
                  </a:lnTo>
                  <a:cubicBezTo>
                    <a:pt x="2182144" y="0"/>
                    <a:pt x="2192553" y="10409"/>
                    <a:pt x="2192553" y="23249"/>
                  </a:cubicBezTo>
                  <a:lnTo>
                    <a:pt x="2192553" y="1863249"/>
                  </a:lnTo>
                  <a:cubicBezTo>
                    <a:pt x="2192553" y="1876090"/>
                    <a:pt x="2182144" y="1886499"/>
                    <a:pt x="2169304" y="1886499"/>
                  </a:cubicBezTo>
                  <a:lnTo>
                    <a:pt x="23249" y="1886499"/>
                  </a:lnTo>
                  <a:cubicBezTo>
                    <a:pt x="10409" y="1886499"/>
                    <a:pt x="0" y="1876090"/>
                    <a:pt x="0" y="1863249"/>
                  </a:cubicBezTo>
                  <a:lnTo>
                    <a:pt x="0" y="23249"/>
                  </a:lnTo>
                  <a:cubicBezTo>
                    <a:pt x="0" y="10409"/>
                    <a:pt x="10409" y="0"/>
                    <a:pt x="23249" y="0"/>
                  </a:cubicBezTo>
                  <a:close/>
                </a:path>
              </a:pathLst>
            </a:custGeom>
            <a:solidFill>
              <a:srgbClr val="001F3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 algn="ctr"/>
              <a:r>
                <a:rPr lang="en-IN" sz="11500" b="1" dirty="0">
                  <a:solidFill>
                    <a:srgbClr val="FFFF00"/>
                  </a:solidFill>
                </a:rPr>
                <a:t>Bibliography</a:t>
              </a:r>
            </a:p>
          </p:txBody>
        </p:sp>
        <p:sp>
          <p:nvSpPr>
            <p:cNvPr id="17" name="TextBox 4">
              <a:extLst>
                <a:ext uri="{FF2B5EF4-FFF2-40B4-BE49-F238E27FC236}">
                  <a16:creationId xmlns:a16="http://schemas.microsoft.com/office/drawing/2014/main" id="{4AA387F6-0335-9CD0-CD17-C0F03A5889A7}"/>
                </a:ext>
              </a:extLst>
            </p:cNvPr>
            <p:cNvSpPr txBox="1"/>
            <p:nvPr/>
          </p:nvSpPr>
          <p:spPr>
            <a:xfrm>
              <a:off x="0" y="-9525"/>
              <a:ext cx="2192553" cy="18960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9EC1AF08-B44E-47EF-F7A4-01687FBCD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0974" y="3317192"/>
            <a:ext cx="11469701" cy="488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7213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C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9BF237-6C8E-2E18-F519-97386EC55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>
            <a:extLst>
              <a:ext uri="{FF2B5EF4-FFF2-40B4-BE49-F238E27FC236}">
                <a16:creationId xmlns:a16="http://schemas.microsoft.com/office/drawing/2014/main" id="{52CB1440-75ED-68EB-9ED5-26C53CCEB58E}"/>
              </a:ext>
            </a:extLst>
          </p:cNvPr>
          <p:cNvGrpSpPr/>
          <p:nvPr/>
        </p:nvGrpSpPr>
        <p:grpSpPr>
          <a:xfrm>
            <a:off x="666750" y="7758112"/>
            <a:ext cx="4010025" cy="946706"/>
            <a:chOff x="0" y="-95250"/>
            <a:chExt cx="5346700" cy="1262274"/>
          </a:xfrm>
        </p:grpSpPr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FDA63E4A-F5CE-D720-0739-FD47C2998EE0}"/>
                </a:ext>
              </a:extLst>
            </p:cNvPr>
            <p:cNvSpPr txBox="1"/>
            <p:nvPr/>
          </p:nvSpPr>
          <p:spPr>
            <a:xfrm>
              <a:off x="0" y="611316"/>
              <a:ext cx="5346700" cy="5557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endParaRPr lang="en-US" sz="2499" u="none" strike="noStrike">
                <a:solidFill>
                  <a:srgbClr val="FFFF4D"/>
                </a:solidFill>
                <a:latin typeface="Nyutro Sans"/>
                <a:ea typeface="Nyutro Sans"/>
                <a:cs typeface="Nyutro Sans"/>
                <a:sym typeface="Nyutro Sans"/>
              </a:endParaRP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8C7F29E-6DA6-6153-2902-FDBCFFCF0320}"/>
                </a:ext>
              </a:extLst>
            </p:cNvPr>
            <p:cNvSpPr txBox="1"/>
            <p:nvPr/>
          </p:nvSpPr>
          <p:spPr>
            <a:xfrm>
              <a:off x="0" y="-95250"/>
              <a:ext cx="5346700" cy="594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</a:pPr>
              <a:r>
                <a:rPr lang="en-US" sz="2499" b="1">
                  <a:solidFill>
                    <a:srgbClr val="FFDC00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Email</a:t>
              </a:r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A21E2B53-E518-B73D-7F4E-EA9E19A008E8}"/>
              </a:ext>
            </a:extLst>
          </p:cNvPr>
          <p:cNvGrpSpPr/>
          <p:nvPr/>
        </p:nvGrpSpPr>
        <p:grpSpPr>
          <a:xfrm>
            <a:off x="4981575" y="7758112"/>
            <a:ext cx="4010025" cy="946706"/>
            <a:chOff x="0" y="-95250"/>
            <a:chExt cx="5346700" cy="1262274"/>
          </a:xfrm>
        </p:grpSpPr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9544426B-A88C-B2D8-ED0F-936B2A25727F}"/>
                </a:ext>
              </a:extLst>
            </p:cNvPr>
            <p:cNvSpPr txBox="1"/>
            <p:nvPr/>
          </p:nvSpPr>
          <p:spPr>
            <a:xfrm>
              <a:off x="0" y="611316"/>
              <a:ext cx="5346700" cy="5557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endParaRPr lang="en-US" sz="2499" u="none" strike="noStrike">
                <a:solidFill>
                  <a:srgbClr val="FFFF4D"/>
                </a:solidFill>
                <a:latin typeface="Nyutro Sans"/>
                <a:ea typeface="Nyutro Sans"/>
                <a:cs typeface="Nyutro Sans"/>
                <a:sym typeface="Nyutro Sans"/>
              </a:endParaRP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0429FA29-C50C-1121-D3EF-24DFBE9A6AC5}"/>
                </a:ext>
              </a:extLst>
            </p:cNvPr>
            <p:cNvSpPr txBox="1"/>
            <p:nvPr/>
          </p:nvSpPr>
          <p:spPr>
            <a:xfrm>
              <a:off x="0" y="-95250"/>
              <a:ext cx="5346700" cy="594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 u="none" strike="noStrike">
                  <a:solidFill>
                    <a:srgbClr val="FFDC00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Social Media</a:t>
              </a:r>
            </a:p>
          </p:txBody>
        </p:sp>
      </p:grpSp>
      <p:grpSp>
        <p:nvGrpSpPr>
          <p:cNvPr id="11" name="Group 11">
            <a:extLst>
              <a:ext uri="{FF2B5EF4-FFF2-40B4-BE49-F238E27FC236}">
                <a16:creationId xmlns:a16="http://schemas.microsoft.com/office/drawing/2014/main" id="{3CA78BAF-BEB0-D70D-3142-503F46FD0BEC}"/>
              </a:ext>
            </a:extLst>
          </p:cNvPr>
          <p:cNvGrpSpPr/>
          <p:nvPr/>
        </p:nvGrpSpPr>
        <p:grpSpPr>
          <a:xfrm>
            <a:off x="9296400" y="7758112"/>
            <a:ext cx="4010025" cy="946706"/>
            <a:chOff x="0" y="-95250"/>
            <a:chExt cx="5346700" cy="1262274"/>
          </a:xfrm>
        </p:grpSpPr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FBC3DBA3-649F-6680-04D9-B1A238F66DA2}"/>
                </a:ext>
              </a:extLst>
            </p:cNvPr>
            <p:cNvSpPr txBox="1"/>
            <p:nvPr/>
          </p:nvSpPr>
          <p:spPr>
            <a:xfrm>
              <a:off x="0" y="611316"/>
              <a:ext cx="5346700" cy="5557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</a:pPr>
              <a:endParaRPr lang="en-US" sz="2499">
                <a:solidFill>
                  <a:srgbClr val="FFFF4D"/>
                </a:solidFill>
                <a:latin typeface="Nyutro Sans"/>
                <a:ea typeface="Nyutro Sans"/>
                <a:cs typeface="Nyutro Sans"/>
                <a:sym typeface="Nyutro Sans"/>
              </a:endParaRPr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533AEF46-CCC1-AEBC-CD3E-3A955A2038C3}"/>
                </a:ext>
              </a:extLst>
            </p:cNvPr>
            <p:cNvSpPr txBox="1"/>
            <p:nvPr/>
          </p:nvSpPr>
          <p:spPr>
            <a:xfrm>
              <a:off x="0" y="-95250"/>
              <a:ext cx="5346700" cy="5557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 u="none" strike="noStrike">
                  <a:solidFill>
                    <a:srgbClr val="FFDC00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Pone</a:t>
              </a:r>
            </a:p>
          </p:txBody>
        </p:sp>
      </p:grpSp>
      <p:grpSp>
        <p:nvGrpSpPr>
          <p:cNvPr id="15" name="Group 2">
            <a:extLst>
              <a:ext uri="{FF2B5EF4-FFF2-40B4-BE49-F238E27FC236}">
                <a16:creationId xmlns:a16="http://schemas.microsoft.com/office/drawing/2014/main" id="{D0EFE77E-F1A5-6A3C-C6C4-D30BF7FDAC38}"/>
              </a:ext>
            </a:extLst>
          </p:cNvPr>
          <p:cNvGrpSpPr/>
          <p:nvPr/>
        </p:nvGrpSpPr>
        <p:grpSpPr>
          <a:xfrm>
            <a:off x="-1752600" y="999606"/>
            <a:ext cx="17849851" cy="8287784"/>
            <a:chOff x="0" y="-198591"/>
            <a:chExt cx="2960974" cy="2182791"/>
          </a:xfrm>
        </p:grpSpPr>
        <p:sp>
          <p:nvSpPr>
            <p:cNvPr id="16" name="Freeform 3">
              <a:extLst>
                <a:ext uri="{FF2B5EF4-FFF2-40B4-BE49-F238E27FC236}">
                  <a16:creationId xmlns:a16="http://schemas.microsoft.com/office/drawing/2014/main" id="{6E4E0886-94E5-9D5E-A446-115FA298A185}"/>
                </a:ext>
              </a:extLst>
            </p:cNvPr>
            <p:cNvSpPr/>
            <p:nvPr/>
          </p:nvSpPr>
          <p:spPr>
            <a:xfrm>
              <a:off x="442408" y="-198591"/>
              <a:ext cx="2518566" cy="2182791"/>
            </a:xfrm>
            <a:custGeom>
              <a:avLst/>
              <a:gdLst/>
              <a:ahLst/>
              <a:cxnLst/>
              <a:rect l="l" t="t" r="r" b="b"/>
              <a:pathLst>
                <a:path w="2192553" h="1886499">
                  <a:moveTo>
                    <a:pt x="23249" y="0"/>
                  </a:moveTo>
                  <a:lnTo>
                    <a:pt x="2169304" y="0"/>
                  </a:lnTo>
                  <a:cubicBezTo>
                    <a:pt x="2182144" y="0"/>
                    <a:pt x="2192553" y="10409"/>
                    <a:pt x="2192553" y="23249"/>
                  </a:cubicBezTo>
                  <a:lnTo>
                    <a:pt x="2192553" y="1863249"/>
                  </a:lnTo>
                  <a:cubicBezTo>
                    <a:pt x="2192553" y="1876090"/>
                    <a:pt x="2182144" y="1886499"/>
                    <a:pt x="2169304" y="1886499"/>
                  </a:cubicBezTo>
                  <a:lnTo>
                    <a:pt x="23249" y="1886499"/>
                  </a:lnTo>
                  <a:cubicBezTo>
                    <a:pt x="10409" y="1886499"/>
                    <a:pt x="0" y="1876090"/>
                    <a:pt x="0" y="1863249"/>
                  </a:cubicBezTo>
                  <a:lnTo>
                    <a:pt x="0" y="23249"/>
                  </a:lnTo>
                  <a:cubicBezTo>
                    <a:pt x="0" y="10409"/>
                    <a:pt x="10409" y="0"/>
                    <a:pt x="23249" y="0"/>
                  </a:cubicBezTo>
                  <a:close/>
                </a:path>
              </a:pathLst>
            </a:custGeom>
            <a:solidFill>
              <a:srgbClr val="001F3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pPr algn="ctr"/>
              <a:r>
                <a:rPr lang="en-IN" sz="11500" b="1" dirty="0">
                  <a:solidFill>
                    <a:srgbClr val="FFFF00"/>
                  </a:solidFill>
                </a:rPr>
                <a:t>Bibliography</a:t>
              </a:r>
            </a:p>
          </p:txBody>
        </p:sp>
        <p:sp>
          <p:nvSpPr>
            <p:cNvPr id="17" name="TextBox 4">
              <a:extLst>
                <a:ext uri="{FF2B5EF4-FFF2-40B4-BE49-F238E27FC236}">
                  <a16:creationId xmlns:a16="http://schemas.microsoft.com/office/drawing/2014/main" id="{B96FEED6-A729-3C62-44C9-C446BDDC7E34}"/>
                </a:ext>
              </a:extLst>
            </p:cNvPr>
            <p:cNvSpPr txBox="1"/>
            <p:nvPr/>
          </p:nvSpPr>
          <p:spPr>
            <a:xfrm>
              <a:off x="0" y="-9525"/>
              <a:ext cx="2192553" cy="18960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96A4E7F9-27E4-2E10-16D3-38933F9CE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8731" y="3240853"/>
            <a:ext cx="10234187" cy="4305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9298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C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666750" y="7758112"/>
            <a:ext cx="4010025" cy="946706"/>
            <a:chOff x="0" y="-95250"/>
            <a:chExt cx="5346700" cy="1262274"/>
          </a:xfrm>
        </p:grpSpPr>
        <p:sp>
          <p:nvSpPr>
            <p:cNvPr id="6" name="TextBox 6"/>
            <p:cNvSpPr txBox="1"/>
            <p:nvPr/>
          </p:nvSpPr>
          <p:spPr>
            <a:xfrm>
              <a:off x="0" y="611316"/>
              <a:ext cx="5346700" cy="5557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endParaRPr lang="en-US" sz="2499" u="none" strike="noStrike">
                <a:solidFill>
                  <a:srgbClr val="FFFF4D"/>
                </a:solidFill>
                <a:latin typeface="Nyutro Sans"/>
                <a:ea typeface="Nyutro Sans"/>
                <a:cs typeface="Nyutro Sans"/>
                <a:sym typeface="Nyutro Sans"/>
              </a:endParaRP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95250"/>
              <a:ext cx="5346700" cy="594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</a:pPr>
              <a:r>
                <a:rPr lang="en-US" sz="2499" b="1">
                  <a:solidFill>
                    <a:srgbClr val="FFDC00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Email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981575" y="7758112"/>
            <a:ext cx="4010025" cy="946706"/>
            <a:chOff x="0" y="-95250"/>
            <a:chExt cx="5346700" cy="1262274"/>
          </a:xfrm>
        </p:grpSpPr>
        <p:sp>
          <p:nvSpPr>
            <p:cNvPr id="9" name="TextBox 9"/>
            <p:cNvSpPr txBox="1"/>
            <p:nvPr/>
          </p:nvSpPr>
          <p:spPr>
            <a:xfrm>
              <a:off x="0" y="611316"/>
              <a:ext cx="5346700" cy="5557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endParaRPr lang="en-US" sz="2499" u="none" strike="noStrike">
                <a:solidFill>
                  <a:srgbClr val="FFFF4D"/>
                </a:solidFill>
                <a:latin typeface="Nyutro Sans"/>
                <a:ea typeface="Nyutro Sans"/>
                <a:cs typeface="Nyutro Sans"/>
                <a:sym typeface="Nyutro San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95250"/>
              <a:ext cx="5346700" cy="5947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 u="none" strike="noStrike">
                  <a:solidFill>
                    <a:srgbClr val="FFDC00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Social Media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296400" y="7758112"/>
            <a:ext cx="4010025" cy="946706"/>
            <a:chOff x="0" y="-95250"/>
            <a:chExt cx="5346700" cy="1262274"/>
          </a:xfrm>
        </p:grpSpPr>
        <p:sp>
          <p:nvSpPr>
            <p:cNvPr id="12" name="TextBox 12"/>
            <p:cNvSpPr txBox="1"/>
            <p:nvPr/>
          </p:nvSpPr>
          <p:spPr>
            <a:xfrm>
              <a:off x="0" y="611316"/>
              <a:ext cx="5346700" cy="5557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</a:pPr>
              <a:endParaRPr lang="en-US" sz="2499">
                <a:solidFill>
                  <a:srgbClr val="FFFF4D"/>
                </a:solidFill>
                <a:latin typeface="Nyutro Sans"/>
                <a:ea typeface="Nyutro Sans"/>
                <a:cs typeface="Nyutro Sans"/>
                <a:sym typeface="Nyutro San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95250"/>
              <a:ext cx="5346700" cy="5557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 u="none" strike="noStrike">
                  <a:solidFill>
                    <a:srgbClr val="FFDC00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Pone</a:t>
              </a:r>
            </a:p>
          </p:txBody>
        </p:sp>
      </p:grpSp>
      <p:grpSp>
        <p:nvGrpSpPr>
          <p:cNvPr id="15" name="Group 2">
            <a:extLst>
              <a:ext uri="{FF2B5EF4-FFF2-40B4-BE49-F238E27FC236}">
                <a16:creationId xmlns:a16="http://schemas.microsoft.com/office/drawing/2014/main" id="{21CFA686-E5F4-6E89-BC3F-BD8FE3C6CE2E}"/>
              </a:ext>
            </a:extLst>
          </p:cNvPr>
          <p:cNvGrpSpPr/>
          <p:nvPr/>
        </p:nvGrpSpPr>
        <p:grpSpPr>
          <a:xfrm>
            <a:off x="-1752600" y="1620282"/>
            <a:ext cx="17240250" cy="7296150"/>
            <a:chOff x="0" y="-35121"/>
            <a:chExt cx="2859852" cy="1921620"/>
          </a:xfrm>
        </p:grpSpPr>
        <p:sp>
          <p:nvSpPr>
            <p:cNvPr id="16" name="Freeform 3">
              <a:extLst>
                <a:ext uri="{FF2B5EF4-FFF2-40B4-BE49-F238E27FC236}">
                  <a16:creationId xmlns:a16="http://schemas.microsoft.com/office/drawing/2014/main" id="{5C1CFFBF-820A-0969-15D8-64953BE47E4E}"/>
                </a:ext>
              </a:extLst>
            </p:cNvPr>
            <p:cNvSpPr/>
            <p:nvPr/>
          </p:nvSpPr>
          <p:spPr>
            <a:xfrm>
              <a:off x="667299" y="-35121"/>
              <a:ext cx="2192553" cy="1886499"/>
            </a:xfrm>
            <a:custGeom>
              <a:avLst/>
              <a:gdLst/>
              <a:ahLst/>
              <a:cxnLst/>
              <a:rect l="l" t="t" r="r" b="b"/>
              <a:pathLst>
                <a:path w="2192553" h="1886499">
                  <a:moveTo>
                    <a:pt x="23249" y="0"/>
                  </a:moveTo>
                  <a:lnTo>
                    <a:pt x="2169304" y="0"/>
                  </a:lnTo>
                  <a:cubicBezTo>
                    <a:pt x="2182144" y="0"/>
                    <a:pt x="2192553" y="10409"/>
                    <a:pt x="2192553" y="23249"/>
                  </a:cubicBezTo>
                  <a:lnTo>
                    <a:pt x="2192553" y="1863249"/>
                  </a:lnTo>
                  <a:cubicBezTo>
                    <a:pt x="2192553" y="1876090"/>
                    <a:pt x="2182144" y="1886499"/>
                    <a:pt x="2169304" y="1886499"/>
                  </a:cubicBezTo>
                  <a:lnTo>
                    <a:pt x="23249" y="1886499"/>
                  </a:lnTo>
                  <a:cubicBezTo>
                    <a:pt x="10409" y="1886499"/>
                    <a:pt x="0" y="1876090"/>
                    <a:pt x="0" y="1863249"/>
                  </a:cubicBezTo>
                  <a:lnTo>
                    <a:pt x="0" y="23249"/>
                  </a:lnTo>
                  <a:cubicBezTo>
                    <a:pt x="0" y="10409"/>
                    <a:pt x="10409" y="0"/>
                    <a:pt x="23249" y="0"/>
                  </a:cubicBezTo>
                  <a:close/>
                </a:path>
              </a:pathLst>
            </a:custGeom>
            <a:solidFill>
              <a:srgbClr val="001F3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r>
                <a:rPr lang="en-IN" b="1"/>
                <a:t>                                             </a:t>
              </a:r>
              <a:br>
                <a:rPr lang="en-IN" b="1"/>
              </a:br>
              <a:endParaRPr lang="en-IN" b="1"/>
            </a:p>
            <a:p>
              <a:br>
                <a:rPr lang="en-IN" b="1"/>
              </a:br>
              <a:br>
                <a:rPr lang="en-IN" b="1"/>
              </a:br>
              <a:br>
                <a:rPr lang="en-IN" b="1"/>
              </a:br>
              <a:br>
                <a:rPr lang="en-IN" b="1"/>
              </a:br>
              <a:br>
                <a:rPr lang="en-IN" b="1"/>
              </a:br>
              <a:br>
                <a:rPr lang="en-IN" b="1"/>
              </a:br>
              <a:r>
                <a:rPr lang="en-IN" b="1"/>
                <a:t>                                         </a:t>
              </a:r>
              <a:r>
                <a:rPr lang="en-IN" sz="15000" b="1">
                  <a:solidFill>
                    <a:srgbClr val="FFFF00"/>
                  </a:solidFill>
                </a:rPr>
                <a:t>Thank You !</a:t>
              </a:r>
            </a:p>
          </p:txBody>
        </p:sp>
        <p:sp>
          <p:nvSpPr>
            <p:cNvPr id="17" name="TextBox 4">
              <a:extLst>
                <a:ext uri="{FF2B5EF4-FFF2-40B4-BE49-F238E27FC236}">
                  <a16:creationId xmlns:a16="http://schemas.microsoft.com/office/drawing/2014/main" id="{BA8FF617-E8AD-AFDF-73E0-FE956FB5682A}"/>
                </a:ext>
              </a:extLst>
            </p:cNvPr>
            <p:cNvSpPr txBox="1"/>
            <p:nvPr/>
          </p:nvSpPr>
          <p:spPr>
            <a:xfrm>
              <a:off x="0" y="-9525"/>
              <a:ext cx="2192553" cy="18960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524"/>
                </a:lnSpc>
                <a:spcBef>
                  <a:spcPct val="0"/>
                </a:spcBef>
              </a:pP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1493</Words>
  <Application>Microsoft Office PowerPoint</Application>
  <PresentationFormat>Custom</PresentationFormat>
  <Paragraphs>164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Algerian</vt:lpstr>
      <vt:lpstr>Wingdings</vt:lpstr>
      <vt:lpstr>Arial</vt:lpstr>
      <vt:lpstr>Times New Roman</vt:lpstr>
      <vt:lpstr>Nyutro Sans</vt:lpstr>
      <vt:lpstr>Nyutro Sans Bold</vt:lpstr>
      <vt:lpstr>Calibri</vt:lpstr>
      <vt:lpstr>Nyutro Sans Heavy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Mumbai Transport Satisfaction Insights</dc:title>
  <dc:creator>Nishant Parwani</dc:creator>
  <dc:description>Presentation - Mumbai Transport Satisfaction Insights</dc:description>
  <cp:lastModifiedBy>Nishant Parwani</cp:lastModifiedBy>
  <cp:revision>2522</cp:revision>
  <dcterms:created xsi:type="dcterms:W3CDTF">2006-08-16T00:00:00Z</dcterms:created>
  <dcterms:modified xsi:type="dcterms:W3CDTF">2026-02-23T16:33:47Z</dcterms:modified>
  <dc:identifier>DAG1r6HMclU</dc:identifier>
</cp:coreProperties>
</file>