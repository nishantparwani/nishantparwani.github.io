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60" r:id="rId4"/>
    <p:sldId id="262" r:id="rId5"/>
    <p:sldId id="321" r:id="rId6"/>
    <p:sldId id="315" r:id="rId7"/>
    <p:sldId id="289" r:id="rId8"/>
    <p:sldId id="331" r:id="rId9"/>
    <p:sldId id="263" r:id="rId10"/>
    <p:sldId id="327" r:id="rId11"/>
    <p:sldId id="316" r:id="rId12"/>
    <p:sldId id="278" r:id="rId13"/>
    <p:sldId id="291" r:id="rId14"/>
    <p:sldId id="271" r:id="rId15"/>
    <p:sldId id="272" r:id="rId16"/>
    <p:sldId id="273" r:id="rId17"/>
    <p:sldId id="328" r:id="rId18"/>
    <p:sldId id="329" r:id="rId19"/>
    <p:sldId id="317" r:id="rId20"/>
    <p:sldId id="332" r:id="rId21"/>
    <p:sldId id="318" r:id="rId22"/>
    <p:sldId id="261" r:id="rId23"/>
    <p:sldId id="326" r:id="rId24"/>
    <p:sldId id="320" r:id="rId25"/>
  </p:sldIdLst>
  <p:sldSz cx="9144000" cy="5143500" type="screen16x9"/>
  <p:notesSz cx="6858000" cy="9144000"/>
  <p:embeddedFontLst>
    <p:embeddedFont>
      <p:font typeface="Cairo" panose="020B0604020202020204" charset="-78"/>
      <p:regular r:id="rId28"/>
    </p:embeddedFont>
    <p:embeddedFont>
      <p:font typeface="Glory" panose="020B0604020202020204" charset="0"/>
      <p:regular r:id="rId29"/>
    </p:embeddedFont>
    <p:embeddedFont>
      <p:font typeface="Glory SemiBold" panose="020B0604020202020204" charset="0"/>
      <p:bold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Nunito Light" pitchFamily="2" charset="0"/>
      <p:regular r:id="rId36"/>
    </p:embeddedFont>
    <p:embeddedFont>
      <p:font typeface="PT Sans" panose="020B0503020203020204" pitchFamily="34" charset="0"/>
      <p:regular r:id="rId37"/>
    </p:embeddedFont>
    <p:embeddedFont>
      <p:font typeface="Urbanist Medium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FF6C63-1ED2-4777-806D-654D46DE21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2" autoAdjust="0"/>
    <p:restoredTop sz="93423" autoAdjust="0"/>
  </p:normalViewPr>
  <p:slideViewPr>
    <p:cSldViewPr snapToGrid="0">
      <p:cViewPr varScale="1">
        <p:scale>
          <a:sx n="98" d="100"/>
          <a:sy n="98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81C99-D54F-4ABD-A2C4-0AD670C6BBB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B3ACF-F2DE-4F38-AB6A-F5444FED9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f2d92b7bdd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f2d92b7bdd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f2d92b7bdd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f2d92b7bdd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f2d92b7bdd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f2d92b7bdd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f2d92b7bdd_2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f2d92b7bdd_2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f2d92b7bdd_2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f2d92b7bdd_2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1f2d92b7bdd_2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1f2d92b7bdd_2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f2d92b7bdd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f2d92b7bdd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f2d92b7bdd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f2d92b7bdd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f2d92b7bdd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f2d92b7bdd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f2d92b7bdd_2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f2d92b7bdd_2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1f2d92b7bdd_2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1f2d92b7bdd_2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f2d92b7bdd_2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f2d92b7bdd_2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f2d92b7bdd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f2d92b7bdd_2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f2d92b7bdd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f2d92b7bdd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f2d92b7bdd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f2d92b7bdd_2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f2d92b7bdd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f2d92b7bdd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f2d92b7bdd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f2d92b7bdd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f2d92b7bdd_2_1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f2d92b7bdd_2_1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f2d92b7bdd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f2d92b7bdd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f2d92b7bdd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f2d92b7bdd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f2d92b7bdd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f2d92b7bdd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f2d92b7bdd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f2d92b7bdd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1f2d92b7bdd_2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1f2d92b7bdd_2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771900"/>
            <a:ext cx="4528800" cy="22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41282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183425" y="544250"/>
            <a:ext cx="108300" cy="4055000"/>
            <a:chOff x="390850" y="421250"/>
            <a:chExt cx="108300" cy="4055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390850" y="826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390850" y="928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390850" y="1029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390850" y="1130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390850" y="1232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390850" y="1333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390850" y="1435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90850" y="1536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390850" y="1637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390850" y="1739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390850" y="1840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390850" y="1941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390850" y="2043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390850" y="2144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390850" y="2246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390850" y="2347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390850" y="421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390850" y="522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390850" y="624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390850" y="725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390850" y="2448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390850" y="2550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390850" y="2651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390850" y="2752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390850" y="2854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390850" y="2955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390850" y="3057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390850" y="3158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390850" y="3259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390850" y="3361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390850" y="3462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390850" y="3563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390850" y="3665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390850" y="3766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390850" y="3868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390850" y="3969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2"/>
            <p:cNvCxnSpPr/>
            <p:nvPr/>
          </p:nvCxnSpPr>
          <p:spPr>
            <a:xfrm>
              <a:off x="390850" y="4070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2"/>
            <p:cNvCxnSpPr/>
            <p:nvPr/>
          </p:nvCxnSpPr>
          <p:spPr>
            <a:xfrm>
              <a:off x="390850" y="4172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2"/>
            <p:cNvCxnSpPr/>
            <p:nvPr/>
          </p:nvCxnSpPr>
          <p:spPr>
            <a:xfrm>
              <a:off x="390850" y="4273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2"/>
            <p:cNvCxnSpPr/>
            <p:nvPr/>
          </p:nvCxnSpPr>
          <p:spPr>
            <a:xfrm>
              <a:off x="390850" y="4374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2"/>
            <p:cNvCxnSpPr/>
            <p:nvPr/>
          </p:nvCxnSpPr>
          <p:spPr>
            <a:xfrm>
              <a:off x="390850" y="4476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4" name="Google Shape;54;p2"/>
          <p:cNvGrpSpPr/>
          <p:nvPr/>
        </p:nvGrpSpPr>
        <p:grpSpPr>
          <a:xfrm>
            <a:off x="8852225" y="544250"/>
            <a:ext cx="108300" cy="4055000"/>
            <a:chOff x="390850" y="421250"/>
            <a:chExt cx="108300" cy="4055000"/>
          </a:xfrm>
        </p:grpSpPr>
        <p:cxnSp>
          <p:nvCxnSpPr>
            <p:cNvPr id="55" name="Google Shape;55;p2"/>
            <p:cNvCxnSpPr/>
            <p:nvPr/>
          </p:nvCxnSpPr>
          <p:spPr>
            <a:xfrm>
              <a:off x="390850" y="826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2"/>
            <p:cNvCxnSpPr/>
            <p:nvPr/>
          </p:nvCxnSpPr>
          <p:spPr>
            <a:xfrm>
              <a:off x="390850" y="928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390850" y="1029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390850" y="1130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390850" y="1232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390850" y="1333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90850" y="1435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390850" y="1536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390850" y="1637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390850" y="1739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390850" y="1840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390850" y="1941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390850" y="2043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390850" y="2144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390850" y="2246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390850" y="2347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390850" y="421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390850" y="522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390850" y="624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390850" y="725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2"/>
            <p:cNvCxnSpPr/>
            <p:nvPr/>
          </p:nvCxnSpPr>
          <p:spPr>
            <a:xfrm>
              <a:off x="390850" y="2448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2"/>
            <p:cNvCxnSpPr/>
            <p:nvPr/>
          </p:nvCxnSpPr>
          <p:spPr>
            <a:xfrm>
              <a:off x="390850" y="2550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2"/>
            <p:cNvCxnSpPr/>
            <p:nvPr/>
          </p:nvCxnSpPr>
          <p:spPr>
            <a:xfrm>
              <a:off x="390850" y="2651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2"/>
            <p:cNvCxnSpPr/>
            <p:nvPr/>
          </p:nvCxnSpPr>
          <p:spPr>
            <a:xfrm>
              <a:off x="390850" y="2752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2"/>
            <p:cNvCxnSpPr/>
            <p:nvPr/>
          </p:nvCxnSpPr>
          <p:spPr>
            <a:xfrm>
              <a:off x="390850" y="2854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2"/>
            <p:cNvCxnSpPr/>
            <p:nvPr/>
          </p:nvCxnSpPr>
          <p:spPr>
            <a:xfrm>
              <a:off x="390850" y="2955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2"/>
            <p:cNvCxnSpPr/>
            <p:nvPr/>
          </p:nvCxnSpPr>
          <p:spPr>
            <a:xfrm>
              <a:off x="390850" y="3057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2"/>
            <p:cNvCxnSpPr/>
            <p:nvPr/>
          </p:nvCxnSpPr>
          <p:spPr>
            <a:xfrm>
              <a:off x="390850" y="3158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390850" y="3259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2"/>
            <p:cNvCxnSpPr/>
            <p:nvPr/>
          </p:nvCxnSpPr>
          <p:spPr>
            <a:xfrm>
              <a:off x="390850" y="3361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2"/>
            <p:cNvCxnSpPr/>
            <p:nvPr/>
          </p:nvCxnSpPr>
          <p:spPr>
            <a:xfrm>
              <a:off x="390850" y="3462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2"/>
            <p:cNvCxnSpPr/>
            <p:nvPr/>
          </p:nvCxnSpPr>
          <p:spPr>
            <a:xfrm>
              <a:off x="390850" y="3563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Google Shape;87;p2"/>
            <p:cNvCxnSpPr/>
            <p:nvPr/>
          </p:nvCxnSpPr>
          <p:spPr>
            <a:xfrm>
              <a:off x="390850" y="3665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88;p2"/>
            <p:cNvCxnSpPr/>
            <p:nvPr/>
          </p:nvCxnSpPr>
          <p:spPr>
            <a:xfrm>
              <a:off x="390850" y="37666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2"/>
            <p:cNvCxnSpPr/>
            <p:nvPr/>
          </p:nvCxnSpPr>
          <p:spPr>
            <a:xfrm>
              <a:off x="390850" y="38680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2"/>
            <p:cNvCxnSpPr/>
            <p:nvPr/>
          </p:nvCxnSpPr>
          <p:spPr>
            <a:xfrm>
              <a:off x="390850" y="39693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2"/>
            <p:cNvCxnSpPr/>
            <p:nvPr/>
          </p:nvCxnSpPr>
          <p:spPr>
            <a:xfrm>
              <a:off x="390850" y="40707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2"/>
            <p:cNvCxnSpPr/>
            <p:nvPr/>
          </p:nvCxnSpPr>
          <p:spPr>
            <a:xfrm>
              <a:off x="390850" y="417212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2"/>
            <p:cNvCxnSpPr/>
            <p:nvPr/>
          </p:nvCxnSpPr>
          <p:spPr>
            <a:xfrm>
              <a:off x="390850" y="427350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2"/>
            <p:cNvCxnSpPr/>
            <p:nvPr/>
          </p:nvCxnSpPr>
          <p:spPr>
            <a:xfrm>
              <a:off x="390850" y="4374875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2"/>
            <p:cNvCxnSpPr/>
            <p:nvPr/>
          </p:nvCxnSpPr>
          <p:spPr>
            <a:xfrm>
              <a:off x="390850" y="4476250"/>
              <a:ext cx="108300" cy="0"/>
            </a:xfrm>
            <a:prstGeom prst="straightConnector1">
              <a:avLst/>
            </a:prstGeom>
            <a:noFill/>
            <a:ln w="9525" cap="flat" cmpd="sng">
              <a:solidFill>
                <a:srgbClr val="00FCFE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713225" y="2864000"/>
            <a:ext cx="44376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6896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3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 rot="-5400000">
            <a:off x="-1826581" y="2548901"/>
            <a:ext cx="4055774" cy="45717"/>
            <a:chOff x="152392" y="4169900"/>
            <a:chExt cx="4089306" cy="133209"/>
          </a:xfrm>
        </p:grpSpPr>
        <p:sp>
          <p:nvSpPr>
            <p:cNvPr id="101" name="Google Shape;101;p3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 rot="5400000">
            <a:off x="6907319" y="2548889"/>
            <a:ext cx="4055774" cy="45717"/>
            <a:chOff x="152392" y="4169900"/>
            <a:chExt cx="4089306" cy="133209"/>
          </a:xfrm>
        </p:grpSpPr>
        <p:sp>
          <p:nvSpPr>
            <p:cNvPr id="108" name="Google Shape;108;p3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4368219" y="4906751"/>
            <a:ext cx="4055774" cy="45717"/>
            <a:chOff x="152392" y="4169900"/>
            <a:chExt cx="4089306" cy="133209"/>
          </a:xfrm>
        </p:grpSpPr>
        <p:sp>
          <p:nvSpPr>
            <p:cNvPr id="119" name="Google Shape;119;p4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25" name="Google Shape;125;p4"/>
          <p:cNvGrpSpPr/>
          <p:nvPr/>
        </p:nvGrpSpPr>
        <p:grpSpPr>
          <a:xfrm rot="10800000">
            <a:off x="713219" y="187901"/>
            <a:ext cx="4055774" cy="45717"/>
            <a:chOff x="152392" y="4169900"/>
            <a:chExt cx="4089306" cy="133209"/>
          </a:xfrm>
        </p:grpSpPr>
        <p:sp>
          <p:nvSpPr>
            <p:cNvPr id="126" name="Google Shape;126;p4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subTitle" idx="1"/>
          </p:nvPr>
        </p:nvSpPr>
        <p:spPr>
          <a:xfrm>
            <a:off x="5055305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ubTitle" idx="2"/>
          </p:nvPr>
        </p:nvSpPr>
        <p:spPr>
          <a:xfrm>
            <a:off x="1583095" y="36952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ubTitle" idx="3"/>
          </p:nvPr>
        </p:nvSpPr>
        <p:spPr>
          <a:xfrm>
            <a:off x="505530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9pPr>
          </a:lstStyle>
          <a:p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ubTitle" idx="4"/>
          </p:nvPr>
        </p:nvSpPr>
        <p:spPr>
          <a:xfrm>
            <a:off x="158309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9pPr>
          </a:lstStyle>
          <a:p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42" name="Google Shape;142;p6"/>
          <p:cNvGrpSpPr/>
          <p:nvPr/>
        </p:nvGrpSpPr>
        <p:grpSpPr>
          <a:xfrm>
            <a:off x="8413722" y="755512"/>
            <a:ext cx="547754" cy="25200"/>
            <a:chOff x="180922" y="4592137"/>
            <a:chExt cx="547754" cy="25200"/>
          </a:xfrm>
        </p:grpSpPr>
        <p:sp>
          <p:nvSpPr>
            <p:cNvPr id="143" name="Google Shape;143;p6"/>
            <p:cNvSpPr/>
            <p:nvPr/>
          </p:nvSpPr>
          <p:spPr>
            <a:xfrm>
              <a:off x="180922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55572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30223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4874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79524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554175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628826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703476" y="4592137"/>
              <a:ext cx="25200" cy="25200"/>
            </a:xfrm>
            <a:prstGeom prst="ellipse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subTitle" idx="1"/>
          </p:nvPr>
        </p:nvSpPr>
        <p:spPr>
          <a:xfrm>
            <a:off x="713225" y="176262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Cair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55" name="Google Shape;155;p7"/>
          <p:cNvGrpSpPr/>
          <p:nvPr/>
        </p:nvGrpSpPr>
        <p:grpSpPr>
          <a:xfrm rot="5400000">
            <a:off x="6822942" y="2516064"/>
            <a:ext cx="4221897" cy="45380"/>
            <a:chOff x="1498025" y="4896205"/>
            <a:chExt cx="4258950" cy="45393"/>
          </a:xfrm>
        </p:grpSpPr>
        <p:sp>
          <p:nvSpPr>
            <p:cNvPr id="156" name="Google Shape;156;p7"/>
            <p:cNvSpPr/>
            <p:nvPr/>
          </p:nvSpPr>
          <p:spPr>
            <a:xfrm rot="5400000">
              <a:off x="1648625" y="474576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 rot="5400000">
              <a:off x="2041025" y="474576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 rot="5400000">
              <a:off x="2427800" y="4745605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 rot="5400000">
              <a:off x="2820200" y="4745605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 rot="5400000">
              <a:off x="3212600" y="474592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 rot="5400000">
              <a:off x="3605000" y="474592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 rot="5400000">
              <a:off x="3997400" y="474568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 rot="5400000">
              <a:off x="4389800" y="474568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 rot="5400000">
              <a:off x="4782200" y="4745999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 rot="5400000">
              <a:off x="5174600" y="4745999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 rot="5400000">
              <a:off x="5561375" y="4745842"/>
              <a:ext cx="45000" cy="346200"/>
            </a:xfrm>
            <a:prstGeom prst="rect">
              <a:avLst/>
            </a:prstGeom>
            <a:solidFill>
              <a:srgbClr val="00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94" name="Google Shape;39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95" name="Google Shape;395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5400000">
            <a:off x="-1653981" y="2546763"/>
            <a:ext cx="3726256" cy="49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title" idx="2" hasCustomPrompt="1"/>
          </p:nvPr>
        </p:nvSpPr>
        <p:spPr>
          <a:xfrm>
            <a:off x="1303777" y="1433303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9" name="Google Shape;439;p17"/>
          <p:cNvSpPr txBox="1">
            <a:spLocks noGrp="1"/>
          </p:cNvSpPr>
          <p:nvPr>
            <p:ph type="title" idx="3" hasCustomPrompt="1"/>
          </p:nvPr>
        </p:nvSpPr>
        <p:spPr>
          <a:xfrm>
            <a:off x="4715652" y="1433303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0" name="Google Shape;440;p17"/>
          <p:cNvSpPr txBox="1">
            <a:spLocks noGrp="1"/>
          </p:cNvSpPr>
          <p:nvPr>
            <p:ph type="title" idx="4" hasCustomPrompt="1"/>
          </p:nvPr>
        </p:nvSpPr>
        <p:spPr>
          <a:xfrm>
            <a:off x="1303777" y="2558794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1" name="Google Shape;441;p17"/>
          <p:cNvSpPr txBox="1">
            <a:spLocks noGrp="1"/>
          </p:cNvSpPr>
          <p:nvPr>
            <p:ph type="title" idx="5" hasCustomPrompt="1"/>
          </p:nvPr>
        </p:nvSpPr>
        <p:spPr>
          <a:xfrm>
            <a:off x="4715652" y="2558794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2" name="Google Shape;442;p17"/>
          <p:cNvSpPr txBox="1">
            <a:spLocks noGrp="1"/>
          </p:cNvSpPr>
          <p:nvPr>
            <p:ph type="title" idx="6" hasCustomPrompt="1"/>
          </p:nvPr>
        </p:nvSpPr>
        <p:spPr>
          <a:xfrm>
            <a:off x="1303777" y="3687425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3" name="Google Shape;443;p17"/>
          <p:cNvSpPr txBox="1">
            <a:spLocks noGrp="1"/>
          </p:cNvSpPr>
          <p:nvPr>
            <p:ph type="title" idx="7" hasCustomPrompt="1"/>
          </p:nvPr>
        </p:nvSpPr>
        <p:spPr>
          <a:xfrm>
            <a:off x="4715652" y="3687425"/>
            <a:ext cx="819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4" name="Google Shape;444;p17"/>
          <p:cNvSpPr txBox="1">
            <a:spLocks noGrp="1"/>
          </p:cNvSpPr>
          <p:nvPr>
            <p:ph type="subTitle" idx="1"/>
          </p:nvPr>
        </p:nvSpPr>
        <p:spPr>
          <a:xfrm>
            <a:off x="2122777" y="1280003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sp>
        <p:nvSpPr>
          <p:cNvPr id="445" name="Google Shape;445;p17"/>
          <p:cNvSpPr txBox="1">
            <a:spLocks noGrp="1"/>
          </p:cNvSpPr>
          <p:nvPr>
            <p:ph type="subTitle" idx="8"/>
          </p:nvPr>
        </p:nvSpPr>
        <p:spPr>
          <a:xfrm>
            <a:off x="2122777" y="2405494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sp>
        <p:nvSpPr>
          <p:cNvPr id="446" name="Google Shape;446;p17"/>
          <p:cNvSpPr txBox="1">
            <a:spLocks noGrp="1"/>
          </p:cNvSpPr>
          <p:nvPr>
            <p:ph type="subTitle" idx="9"/>
          </p:nvPr>
        </p:nvSpPr>
        <p:spPr>
          <a:xfrm>
            <a:off x="2122777" y="3534125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sp>
        <p:nvSpPr>
          <p:cNvPr id="447" name="Google Shape;447;p17"/>
          <p:cNvSpPr txBox="1">
            <a:spLocks noGrp="1"/>
          </p:cNvSpPr>
          <p:nvPr>
            <p:ph type="subTitle" idx="13"/>
          </p:nvPr>
        </p:nvSpPr>
        <p:spPr>
          <a:xfrm>
            <a:off x="5534723" y="1280003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sp>
        <p:nvSpPr>
          <p:cNvPr id="448" name="Google Shape;448;p17"/>
          <p:cNvSpPr txBox="1">
            <a:spLocks noGrp="1"/>
          </p:cNvSpPr>
          <p:nvPr>
            <p:ph type="subTitle" idx="14"/>
          </p:nvPr>
        </p:nvSpPr>
        <p:spPr>
          <a:xfrm>
            <a:off x="5534723" y="2405494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sp>
        <p:nvSpPr>
          <p:cNvPr id="449" name="Google Shape;449;p17"/>
          <p:cNvSpPr txBox="1">
            <a:spLocks noGrp="1"/>
          </p:cNvSpPr>
          <p:nvPr>
            <p:ph type="subTitle" idx="15"/>
          </p:nvPr>
        </p:nvSpPr>
        <p:spPr>
          <a:xfrm>
            <a:off x="5534723" y="3534125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Medium" panose="020B0A04040200000203"/>
              <a:buNone/>
              <a:defRPr sz="2400"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defRPr>
            </a:lvl9pPr>
          </a:lstStyle>
          <a:p>
            <a:endParaRPr/>
          </a:p>
        </p:txBody>
      </p:sp>
      <p:pic>
        <p:nvPicPr>
          <p:cNvPr id="450" name="Google Shape;450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179926" y="1478875"/>
            <a:ext cx="479450" cy="26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2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11" name="Google Shape;51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22"/>
          <p:cNvSpPr txBox="1">
            <a:spLocks noGrp="1"/>
          </p:cNvSpPr>
          <p:nvPr>
            <p:ph type="subTitle" idx="1"/>
          </p:nvPr>
        </p:nvSpPr>
        <p:spPr>
          <a:xfrm>
            <a:off x="5012625" y="2367525"/>
            <a:ext cx="2460900" cy="1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22"/>
          <p:cNvSpPr txBox="1">
            <a:spLocks noGrp="1"/>
          </p:cNvSpPr>
          <p:nvPr>
            <p:ph type="subTitle" idx="2"/>
          </p:nvPr>
        </p:nvSpPr>
        <p:spPr>
          <a:xfrm>
            <a:off x="1670450" y="2367525"/>
            <a:ext cx="2460900" cy="1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2"/>
          <p:cNvSpPr txBox="1">
            <a:spLocks noGrp="1"/>
          </p:cNvSpPr>
          <p:nvPr>
            <p:ph type="subTitle" idx="3"/>
          </p:nvPr>
        </p:nvSpPr>
        <p:spPr>
          <a:xfrm>
            <a:off x="1670451" y="1808625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9pPr>
          </a:lstStyle>
          <a:p>
            <a:endParaRPr/>
          </a:p>
        </p:txBody>
      </p:sp>
      <p:sp>
        <p:nvSpPr>
          <p:cNvPr id="515" name="Google Shape;515;p22"/>
          <p:cNvSpPr txBox="1">
            <a:spLocks noGrp="1"/>
          </p:cNvSpPr>
          <p:nvPr>
            <p:ph type="subTitle" idx="4"/>
          </p:nvPr>
        </p:nvSpPr>
        <p:spPr>
          <a:xfrm>
            <a:off x="5012650" y="1808625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00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lory SemiBold"/>
              <a:buNone/>
              <a:defRPr sz="2400">
                <a:latin typeface="Glory SemiBold"/>
                <a:ea typeface="Glory SemiBold"/>
                <a:cs typeface="Glory SemiBold"/>
                <a:sym typeface="Glory SemiBold"/>
              </a:defRPr>
            </a:lvl9pPr>
          </a:lstStyle>
          <a:p>
            <a:endParaRPr/>
          </a:p>
        </p:txBody>
      </p:sp>
      <p:grpSp>
        <p:nvGrpSpPr>
          <p:cNvPr id="516" name="Google Shape;516;p22"/>
          <p:cNvGrpSpPr/>
          <p:nvPr/>
        </p:nvGrpSpPr>
        <p:grpSpPr>
          <a:xfrm rot="-5400000">
            <a:off x="426747" y="4667937"/>
            <a:ext cx="547754" cy="25200"/>
            <a:chOff x="180922" y="4592137"/>
            <a:chExt cx="547754" cy="25200"/>
          </a:xfrm>
        </p:grpSpPr>
        <p:sp>
          <p:nvSpPr>
            <p:cNvPr id="517" name="Google Shape;517;p22"/>
            <p:cNvSpPr/>
            <p:nvPr/>
          </p:nvSpPr>
          <p:spPr>
            <a:xfrm>
              <a:off x="18092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25557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330223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40487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47952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554175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62882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70347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25" name="Google Shape;525;p22"/>
          <p:cNvGrpSpPr/>
          <p:nvPr/>
        </p:nvGrpSpPr>
        <p:grpSpPr>
          <a:xfrm rot="-5400000">
            <a:off x="8156897" y="463037"/>
            <a:ext cx="547754" cy="25200"/>
            <a:chOff x="180922" y="4592137"/>
            <a:chExt cx="547754" cy="25200"/>
          </a:xfrm>
        </p:grpSpPr>
        <p:sp>
          <p:nvSpPr>
            <p:cNvPr id="526" name="Google Shape;526;p22"/>
            <p:cNvSpPr/>
            <p:nvPr/>
          </p:nvSpPr>
          <p:spPr>
            <a:xfrm>
              <a:off x="18092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25557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330223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40487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47952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554175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882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0347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3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536" name="Google Shape;53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23"/>
          <p:cNvSpPr txBox="1">
            <a:spLocks noGrp="1"/>
          </p:cNvSpPr>
          <p:nvPr>
            <p:ph type="subTitle" idx="1"/>
          </p:nvPr>
        </p:nvSpPr>
        <p:spPr>
          <a:xfrm>
            <a:off x="4854350" y="1686300"/>
            <a:ext cx="35697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3"/>
          <p:cNvSpPr txBox="1">
            <a:spLocks noGrp="1"/>
          </p:cNvSpPr>
          <p:nvPr>
            <p:ph type="subTitle" idx="2"/>
          </p:nvPr>
        </p:nvSpPr>
        <p:spPr>
          <a:xfrm>
            <a:off x="719950" y="1686300"/>
            <a:ext cx="3569700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9" name="Google Shape;539;p23"/>
          <p:cNvGrpSpPr/>
          <p:nvPr/>
        </p:nvGrpSpPr>
        <p:grpSpPr>
          <a:xfrm>
            <a:off x="180922" y="4592137"/>
            <a:ext cx="547754" cy="25200"/>
            <a:chOff x="180922" y="4592137"/>
            <a:chExt cx="547754" cy="25200"/>
          </a:xfrm>
        </p:grpSpPr>
        <p:sp>
          <p:nvSpPr>
            <p:cNvPr id="540" name="Google Shape;540;p23"/>
            <p:cNvSpPr/>
            <p:nvPr/>
          </p:nvSpPr>
          <p:spPr>
            <a:xfrm>
              <a:off x="18092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255572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330223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40487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479524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554175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62882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703476" y="4592137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48" name="Google Shape;548;p23"/>
          <p:cNvGrpSpPr/>
          <p:nvPr/>
        </p:nvGrpSpPr>
        <p:grpSpPr>
          <a:xfrm>
            <a:off x="8406038" y="514362"/>
            <a:ext cx="547754" cy="25200"/>
            <a:chOff x="8406038" y="514362"/>
            <a:chExt cx="547754" cy="25200"/>
          </a:xfrm>
        </p:grpSpPr>
        <p:sp>
          <p:nvSpPr>
            <p:cNvPr id="549" name="Google Shape;549;p23"/>
            <p:cNvSpPr/>
            <p:nvPr/>
          </p:nvSpPr>
          <p:spPr>
            <a:xfrm>
              <a:off x="8406038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8480688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8555339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8629989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8704640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8779291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8853941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8928592" y="514362"/>
              <a:ext cx="25200" cy="2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9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661" name="Google Shape;661;p29"/>
          <p:cNvGrpSpPr/>
          <p:nvPr/>
        </p:nvGrpSpPr>
        <p:grpSpPr>
          <a:xfrm rot="-5400000" flipH="1">
            <a:off x="6909769" y="2548889"/>
            <a:ext cx="4055774" cy="45717"/>
            <a:chOff x="152392" y="4169900"/>
            <a:chExt cx="4089306" cy="133209"/>
          </a:xfrm>
        </p:grpSpPr>
        <p:sp>
          <p:nvSpPr>
            <p:cNvPr id="662" name="Google Shape;662;p29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4" name="Google Shape;664;p29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5" name="Google Shape;665;p29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6" name="Google Shape;666;p29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7" name="Google Shape;667;p29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668" name="Google Shape;668;p29"/>
          <p:cNvGrpSpPr/>
          <p:nvPr/>
        </p:nvGrpSpPr>
        <p:grpSpPr>
          <a:xfrm rot="-5400000" flipH="1">
            <a:off x="-1821606" y="2548901"/>
            <a:ext cx="4055774" cy="45717"/>
            <a:chOff x="152392" y="4169900"/>
            <a:chExt cx="4089306" cy="133209"/>
          </a:xfrm>
        </p:grpSpPr>
        <p:sp>
          <p:nvSpPr>
            <p:cNvPr id="669" name="Google Shape;669;p29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0" name="Google Shape;670;p29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1" name="Google Shape;671;p29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2" name="Google Shape;672;p29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3" name="Google Shape;673;p29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4" name="Google Shape;674;p29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677" name="Google Shape;677;p30"/>
          <p:cNvGrpSpPr/>
          <p:nvPr/>
        </p:nvGrpSpPr>
        <p:grpSpPr>
          <a:xfrm>
            <a:off x="713393" y="4904906"/>
            <a:ext cx="7717196" cy="45850"/>
            <a:chOff x="713225" y="4896045"/>
            <a:chExt cx="7784925" cy="45864"/>
          </a:xfrm>
        </p:grpSpPr>
        <p:sp>
          <p:nvSpPr>
            <p:cNvPr id="678" name="Google Shape;678;p30"/>
            <p:cNvSpPr/>
            <p:nvPr/>
          </p:nvSpPr>
          <p:spPr>
            <a:xfrm rot="5400000">
              <a:off x="863825" y="474544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9" name="Google Shape;679;p30"/>
            <p:cNvSpPr/>
            <p:nvPr/>
          </p:nvSpPr>
          <p:spPr>
            <a:xfrm rot="5400000">
              <a:off x="1256225" y="474544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0" name="Google Shape;680;p30"/>
            <p:cNvSpPr/>
            <p:nvPr/>
          </p:nvSpPr>
          <p:spPr>
            <a:xfrm rot="5400000">
              <a:off x="1648625" y="474576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1" name="Google Shape;681;p30"/>
            <p:cNvSpPr/>
            <p:nvPr/>
          </p:nvSpPr>
          <p:spPr>
            <a:xfrm rot="5400000">
              <a:off x="2041025" y="474576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2" name="Google Shape;682;p30"/>
            <p:cNvSpPr/>
            <p:nvPr/>
          </p:nvSpPr>
          <p:spPr>
            <a:xfrm rot="5400000">
              <a:off x="2427800" y="474560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3" name="Google Shape;683;p30"/>
            <p:cNvSpPr/>
            <p:nvPr/>
          </p:nvSpPr>
          <p:spPr>
            <a:xfrm rot="5400000">
              <a:off x="2820200" y="474560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4" name="Google Shape;684;p30"/>
            <p:cNvSpPr/>
            <p:nvPr/>
          </p:nvSpPr>
          <p:spPr>
            <a:xfrm rot="5400000">
              <a:off x="3212600" y="474592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5" name="Google Shape;685;p30"/>
            <p:cNvSpPr/>
            <p:nvPr/>
          </p:nvSpPr>
          <p:spPr>
            <a:xfrm rot="5400000">
              <a:off x="3605000" y="474592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6" name="Google Shape;686;p30"/>
            <p:cNvSpPr/>
            <p:nvPr/>
          </p:nvSpPr>
          <p:spPr>
            <a:xfrm rot="5400000">
              <a:off x="3997400" y="474568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7" name="Google Shape;687;p30"/>
            <p:cNvSpPr/>
            <p:nvPr/>
          </p:nvSpPr>
          <p:spPr>
            <a:xfrm rot="5400000">
              <a:off x="4389800" y="474568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8" name="Google Shape;688;p30"/>
            <p:cNvSpPr/>
            <p:nvPr/>
          </p:nvSpPr>
          <p:spPr>
            <a:xfrm rot="5400000">
              <a:off x="4782200" y="474599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9" name="Google Shape;689;p30"/>
            <p:cNvSpPr/>
            <p:nvPr/>
          </p:nvSpPr>
          <p:spPr>
            <a:xfrm rot="5400000">
              <a:off x="5174600" y="474599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0" name="Google Shape;690;p30"/>
            <p:cNvSpPr/>
            <p:nvPr/>
          </p:nvSpPr>
          <p:spPr>
            <a:xfrm rot="5400000">
              <a:off x="5561375" y="474584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1" name="Google Shape;691;p30"/>
            <p:cNvSpPr/>
            <p:nvPr/>
          </p:nvSpPr>
          <p:spPr>
            <a:xfrm rot="5400000">
              <a:off x="5953775" y="474584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2" name="Google Shape;692;p30"/>
            <p:cNvSpPr/>
            <p:nvPr/>
          </p:nvSpPr>
          <p:spPr>
            <a:xfrm rot="5400000">
              <a:off x="6346175" y="474615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3" name="Google Shape;693;p30"/>
            <p:cNvSpPr/>
            <p:nvPr/>
          </p:nvSpPr>
          <p:spPr>
            <a:xfrm rot="5400000">
              <a:off x="6738575" y="474615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4" name="Google Shape;694;p30"/>
            <p:cNvSpPr/>
            <p:nvPr/>
          </p:nvSpPr>
          <p:spPr>
            <a:xfrm rot="5400000">
              <a:off x="7130975" y="474614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5" name="Google Shape;695;p30"/>
            <p:cNvSpPr/>
            <p:nvPr/>
          </p:nvSpPr>
          <p:spPr>
            <a:xfrm rot="5400000">
              <a:off x="7517750" y="474599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6" name="Google Shape;696;p30"/>
            <p:cNvSpPr/>
            <p:nvPr/>
          </p:nvSpPr>
          <p:spPr>
            <a:xfrm rot="5400000">
              <a:off x="7910150" y="474599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7" name="Google Shape;697;p30"/>
            <p:cNvSpPr/>
            <p:nvPr/>
          </p:nvSpPr>
          <p:spPr>
            <a:xfrm rot="5400000">
              <a:off x="8302550" y="474630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698" name="Google Shape;698;p30"/>
          <p:cNvGrpSpPr/>
          <p:nvPr/>
        </p:nvGrpSpPr>
        <p:grpSpPr>
          <a:xfrm>
            <a:off x="713393" y="192756"/>
            <a:ext cx="7717196" cy="45850"/>
            <a:chOff x="713225" y="4896045"/>
            <a:chExt cx="7784925" cy="45864"/>
          </a:xfrm>
        </p:grpSpPr>
        <p:sp>
          <p:nvSpPr>
            <p:cNvPr id="699" name="Google Shape;699;p30"/>
            <p:cNvSpPr/>
            <p:nvPr/>
          </p:nvSpPr>
          <p:spPr>
            <a:xfrm rot="5400000">
              <a:off x="863825" y="474544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0" name="Google Shape;700;p30"/>
            <p:cNvSpPr/>
            <p:nvPr/>
          </p:nvSpPr>
          <p:spPr>
            <a:xfrm rot="5400000">
              <a:off x="1256225" y="474544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1" name="Google Shape;701;p30"/>
            <p:cNvSpPr/>
            <p:nvPr/>
          </p:nvSpPr>
          <p:spPr>
            <a:xfrm rot="5400000">
              <a:off x="1648625" y="474576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2" name="Google Shape;702;p30"/>
            <p:cNvSpPr/>
            <p:nvPr/>
          </p:nvSpPr>
          <p:spPr>
            <a:xfrm rot="5400000">
              <a:off x="2041025" y="474576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3" name="Google Shape;703;p30"/>
            <p:cNvSpPr/>
            <p:nvPr/>
          </p:nvSpPr>
          <p:spPr>
            <a:xfrm rot="5400000">
              <a:off x="2427800" y="474560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4" name="Google Shape;704;p30"/>
            <p:cNvSpPr/>
            <p:nvPr/>
          </p:nvSpPr>
          <p:spPr>
            <a:xfrm rot="5400000">
              <a:off x="2820200" y="4745605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5" name="Google Shape;705;p30"/>
            <p:cNvSpPr/>
            <p:nvPr/>
          </p:nvSpPr>
          <p:spPr>
            <a:xfrm rot="5400000">
              <a:off x="3212600" y="474592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6" name="Google Shape;706;p30"/>
            <p:cNvSpPr/>
            <p:nvPr/>
          </p:nvSpPr>
          <p:spPr>
            <a:xfrm rot="5400000">
              <a:off x="3605000" y="474592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7" name="Google Shape;707;p30"/>
            <p:cNvSpPr/>
            <p:nvPr/>
          </p:nvSpPr>
          <p:spPr>
            <a:xfrm rot="5400000">
              <a:off x="3997400" y="474568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8" name="Google Shape;708;p30"/>
            <p:cNvSpPr/>
            <p:nvPr/>
          </p:nvSpPr>
          <p:spPr>
            <a:xfrm rot="5400000">
              <a:off x="4389800" y="474568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9" name="Google Shape;709;p30"/>
            <p:cNvSpPr/>
            <p:nvPr/>
          </p:nvSpPr>
          <p:spPr>
            <a:xfrm rot="5400000">
              <a:off x="4782200" y="474599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0" name="Google Shape;710;p30"/>
            <p:cNvSpPr/>
            <p:nvPr/>
          </p:nvSpPr>
          <p:spPr>
            <a:xfrm rot="5400000">
              <a:off x="5174600" y="474599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1" name="Google Shape;711;p30"/>
            <p:cNvSpPr/>
            <p:nvPr/>
          </p:nvSpPr>
          <p:spPr>
            <a:xfrm rot="5400000">
              <a:off x="5561375" y="474584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2" name="Google Shape;712;p30"/>
            <p:cNvSpPr/>
            <p:nvPr/>
          </p:nvSpPr>
          <p:spPr>
            <a:xfrm rot="5400000">
              <a:off x="5953775" y="474584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3" name="Google Shape;713;p30"/>
            <p:cNvSpPr/>
            <p:nvPr/>
          </p:nvSpPr>
          <p:spPr>
            <a:xfrm rot="5400000">
              <a:off x="6346175" y="474615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4" name="Google Shape;714;p30"/>
            <p:cNvSpPr/>
            <p:nvPr/>
          </p:nvSpPr>
          <p:spPr>
            <a:xfrm rot="5400000">
              <a:off x="6738575" y="474615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5" name="Google Shape;715;p30"/>
            <p:cNvSpPr/>
            <p:nvPr/>
          </p:nvSpPr>
          <p:spPr>
            <a:xfrm rot="5400000">
              <a:off x="7130975" y="474614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6" name="Google Shape;716;p30"/>
            <p:cNvSpPr/>
            <p:nvPr/>
          </p:nvSpPr>
          <p:spPr>
            <a:xfrm rot="5400000">
              <a:off x="7517750" y="474599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7" name="Google Shape;717;p30"/>
            <p:cNvSpPr/>
            <p:nvPr/>
          </p:nvSpPr>
          <p:spPr>
            <a:xfrm rot="5400000">
              <a:off x="7910150" y="4745992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8" name="Google Shape;718;p30"/>
            <p:cNvSpPr/>
            <p:nvPr/>
          </p:nvSpPr>
          <p:spPr>
            <a:xfrm rot="5400000">
              <a:off x="8302550" y="4746309"/>
              <a:ext cx="45000" cy="34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28450"/>
            <a:ext cx="65760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9" name="Google Shape;389;p11"/>
          <p:cNvSpPr txBox="1">
            <a:spLocks noGrp="1"/>
          </p:cNvSpPr>
          <p:nvPr>
            <p:ph type="subTitle" idx="1"/>
          </p:nvPr>
        </p:nvSpPr>
        <p:spPr>
          <a:xfrm>
            <a:off x="1284000" y="27736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7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648" name="Google Shape;648;p27"/>
          <p:cNvSpPr txBox="1">
            <a:spLocks noGrp="1"/>
          </p:cNvSpPr>
          <p:nvPr>
            <p:ph type="title" hasCustomPrompt="1"/>
          </p:nvPr>
        </p:nvSpPr>
        <p:spPr>
          <a:xfrm>
            <a:off x="2223600" y="6184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9" name="Google Shape;649;p27"/>
          <p:cNvSpPr txBox="1">
            <a:spLocks noGrp="1"/>
          </p:cNvSpPr>
          <p:nvPr>
            <p:ph type="subTitle" idx="1"/>
          </p:nvPr>
        </p:nvSpPr>
        <p:spPr>
          <a:xfrm>
            <a:off x="2223600" y="1354375"/>
            <a:ext cx="46968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50" name="Google Shape;650;p27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706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1" name="Google Shape;651;p27"/>
          <p:cNvSpPr txBox="1">
            <a:spLocks noGrp="1"/>
          </p:cNvSpPr>
          <p:nvPr>
            <p:ph type="subTitle" idx="3"/>
          </p:nvPr>
        </p:nvSpPr>
        <p:spPr>
          <a:xfrm>
            <a:off x="2223600" y="2706627"/>
            <a:ext cx="46968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52" name="Google Shape;652;p27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229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3" name="Google Shape;653;p27"/>
          <p:cNvSpPr txBox="1">
            <a:spLocks noGrp="1"/>
          </p:cNvSpPr>
          <p:nvPr>
            <p:ph type="subTitle" idx="5"/>
          </p:nvPr>
        </p:nvSpPr>
        <p:spPr>
          <a:xfrm>
            <a:off x="2223600" y="4058897"/>
            <a:ext cx="46968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 panose="020B0503020203020204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 panose="020B0503020203020204"/>
              <a:buNone/>
              <a:defRPr sz="2100"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/>
          <p:nvPr/>
        </p:nvSpPr>
        <p:spPr>
          <a:xfrm>
            <a:off x="183413" y="190200"/>
            <a:ext cx="8777100" cy="4763100"/>
          </a:xfrm>
          <a:prstGeom prst="roundRect">
            <a:avLst>
              <a:gd name="adj" fmla="val 253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08" name="Google Shape;40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09" name="Google Shape;409;p15"/>
          <p:cNvGrpSpPr/>
          <p:nvPr/>
        </p:nvGrpSpPr>
        <p:grpSpPr>
          <a:xfrm rot="-5400000" flipH="1">
            <a:off x="6909769" y="2548889"/>
            <a:ext cx="4055774" cy="45717"/>
            <a:chOff x="152392" y="4169900"/>
            <a:chExt cx="4089306" cy="133209"/>
          </a:xfrm>
        </p:grpSpPr>
        <p:sp>
          <p:nvSpPr>
            <p:cNvPr id="410" name="Google Shape;410;p15"/>
            <p:cNvSpPr/>
            <p:nvPr/>
          </p:nvSpPr>
          <p:spPr>
            <a:xfrm rot="5400000">
              <a:off x="2130442" y="2191859"/>
              <a:ext cx="133200" cy="40893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 rot="5400000">
              <a:off x="3163192" y="3224609"/>
              <a:ext cx="133200" cy="2023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 rot="5400000">
              <a:off x="3676042" y="3737459"/>
              <a:ext cx="133200" cy="998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 rot="5400000">
              <a:off x="3934042" y="3995459"/>
              <a:ext cx="133200" cy="4821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 rot="5400000">
              <a:off x="4051646" y="4113050"/>
              <a:ext cx="133200" cy="2469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 rot="5400000">
              <a:off x="4111198" y="4172600"/>
              <a:ext cx="133200" cy="127800"/>
            </a:xfrm>
            <a:prstGeom prst="rect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lory"/>
              <a:buNone/>
              <a:defRPr sz="30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ancerindia.org.in/statistic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saphaltaincancercare.com/services/immunotherapy-cost-in-india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6928196/" TargetMode="External"/><Relationship Id="rId13" Type="http://schemas.openxmlformats.org/officeDocument/2006/relationships/hyperlink" Target="https://my.clevelandclinic.org/health/treatments/11582-immunotherapy" TargetMode="External"/><Relationship Id="rId3" Type="http://schemas.openxmlformats.org/officeDocument/2006/relationships/hyperlink" Target="https://doi.org/10.1088/2053-2563/ab2907ch2" TargetMode="External"/><Relationship Id="rId7" Type="http://schemas.openxmlformats.org/officeDocument/2006/relationships/hyperlink" Target="https://www.cancerresearchuk.org/about-cancer/treatment/immunotherapy/what-is-immunotherapy" TargetMode="External"/><Relationship Id="rId12" Type="http://schemas.openxmlformats.org/officeDocument/2006/relationships/hyperlink" Target="https://www.immunopaedia.org.za/clinical-cases/immunotherapy/keep-up-while-the-storm-is-ragin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personalizedmedonc.com/all-articles/657:case-studies-in-immunotherapy" TargetMode="External"/><Relationship Id="rId11" Type="http://schemas.openxmlformats.org/officeDocument/2006/relationships/hyperlink" Target="https://www.cancerresearch.org/what-is-immunotherapy" TargetMode="External"/><Relationship Id="rId5" Type="http://schemas.openxmlformats.org/officeDocument/2006/relationships/hyperlink" Target="https://pmc.ncbi.nlm.nih.gov/articles/PMC9454552/" TargetMode="External"/><Relationship Id="rId10" Type="http://schemas.openxmlformats.org/officeDocument/2006/relationships/hyperlink" Target="https://irepertoire.com/news-events/treatment-monitoring-case-study/" TargetMode="External"/><Relationship Id="rId4" Type="http://schemas.openxmlformats.org/officeDocument/2006/relationships/hyperlink" Target="https://www.frontiersin.org/journals/immunology/articles/10.3389/fimmu.2022.900119/full" TargetMode="External"/><Relationship Id="rId9" Type="http://schemas.openxmlformats.org/officeDocument/2006/relationships/hyperlink" Target="https://www.cancer.org/cancer/managing-cancer/treatment-types/immunotherapy.html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thecancernews.org/immune-checkpoint-inhibitors/" TargetMode="External"/><Relationship Id="rId3" Type="http://schemas.openxmlformats.org/officeDocument/2006/relationships/hyperlink" Target="https://pmc.ncbi.nlm.nih.gov/articles/PMC9967630/" TargetMode="External"/><Relationship Id="rId7" Type="http://schemas.openxmlformats.org/officeDocument/2006/relationships/hyperlink" Target="https://mohfw.gov.in/?q=hi/node/7911" TargetMode="External"/><Relationship Id="rId12" Type="http://schemas.openxmlformats.org/officeDocument/2006/relationships/hyperlink" Target="https://my.clevelandclinic.org/health/treatments/11582-immunotherapy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rvikeshshah.com/immunotherapy-cost-in-india/" TargetMode="External"/><Relationship Id="rId11" Type="http://schemas.openxmlformats.org/officeDocument/2006/relationships/hyperlink" Target="https://www.immunopaedia.org.za/clinical-cases/immunotherapy/keep-up-while-the-storm-is-raging/" TargetMode="External"/><Relationship Id="rId5" Type="http://schemas.openxmlformats.org/officeDocument/2006/relationships/hyperlink" Target="https://saphaltaincancercare.com/services/immunotherapy-cost-in-india/" TargetMode="External"/><Relationship Id="rId10" Type="http://schemas.openxmlformats.org/officeDocument/2006/relationships/hyperlink" Target="https://youtube.com/shorts/QOeuSoxQ0DI?si=Y9pPCMm0sLq18TVP" TargetMode="External"/><Relationship Id="rId4" Type="http://schemas.openxmlformats.org/officeDocument/2006/relationships/hyperlink" Target="https://pmc.ncbi.nlm.nih.gov/articles/PMC10269390/" TargetMode="External"/><Relationship Id="rId9" Type="http://schemas.openxmlformats.org/officeDocument/2006/relationships/hyperlink" Target="https://www.esmo.org/newsroom/press-and-media-hub/esmo-media-releases/studies-show-immunotherapy-improves-long-term-survival-in-growing-number-of-cancer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6"/>
          <p:cNvSpPr txBox="1">
            <a:spLocks noGrp="1"/>
          </p:cNvSpPr>
          <p:nvPr>
            <p:ph type="ctrTitle"/>
          </p:nvPr>
        </p:nvSpPr>
        <p:spPr>
          <a:xfrm>
            <a:off x="616990" y="1186095"/>
            <a:ext cx="4801315" cy="22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Immunotherapy </a:t>
            </a:r>
            <a:b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case study from unit-6)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5" name="Google Shape;755;p36"/>
          <p:cNvSpPr txBox="1">
            <a:spLocks noGrp="1"/>
          </p:cNvSpPr>
          <p:nvPr>
            <p:ph type="subTitle" idx="1"/>
          </p:nvPr>
        </p:nvSpPr>
        <p:spPr>
          <a:xfrm>
            <a:off x="713224" y="4128200"/>
            <a:ext cx="4801315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Nishant Parwani</a:t>
            </a:r>
          </a:p>
        </p:txBody>
      </p:sp>
      <p:pic>
        <p:nvPicPr>
          <p:cNvPr id="756" name="Google Shape;756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690450" y="539500"/>
            <a:ext cx="1624009" cy="4116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36"/>
          <p:cNvCxnSpPr/>
          <p:nvPr/>
        </p:nvCxnSpPr>
        <p:spPr>
          <a:xfrm>
            <a:off x="183425" y="3991225"/>
            <a:ext cx="4855702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58" name="Google Shape;758;p3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389928" y="3336927"/>
            <a:ext cx="813680" cy="743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389928" y="785402"/>
            <a:ext cx="813680" cy="743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6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389927" y="2061154"/>
            <a:ext cx="796863" cy="727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1" name="Google Shape;761;p36"/>
          <p:cNvCxnSpPr>
            <a:stCxn id="758" idx="0"/>
          </p:cNvCxnSpPr>
          <p:nvPr/>
        </p:nvCxnSpPr>
        <p:spPr>
          <a:xfrm flipH="1" flipV="1">
            <a:off x="7773677" y="3177027"/>
            <a:ext cx="23091" cy="15990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36"/>
          <p:cNvCxnSpPr>
            <a:stCxn id="760" idx="0"/>
          </p:cNvCxnSpPr>
          <p:nvPr/>
        </p:nvCxnSpPr>
        <p:spPr>
          <a:xfrm flipH="1" flipV="1">
            <a:off x="7765745" y="1901254"/>
            <a:ext cx="22614" cy="15990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3" name="Google Shape;763;p36"/>
          <p:cNvCxnSpPr>
            <a:stCxn id="759" idx="0"/>
          </p:cNvCxnSpPr>
          <p:nvPr/>
        </p:nvCxnSpPr>
        <p:spPr>
          <a:xfrm flipH="1" flipV="1">
            <a:off x="7773677" y="625502"/>
            <a:ext cx="23091" cy="15990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4" name="Google Shape;764;p36"/>
          <p:cNvCxnSpPr/>
          <p:nvPr/>
        </p:nvCxnSpPr>
        <p:spPr>
          <a:xfrm>
            <a:off x="6555106" y="1437193"/>
            <a:ext cx="589033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5" name="Google Shape;765;p36"/>
          <p:cNvCxnSpPr/>
          <p:nvPr/>
        </p:nvCxnSpPr>
        <p:spPr>
          <a:xfrm>
            <a:off x="6487246" y="1814495"/>
            <a:ext cx="438912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6" name="Google Shape;766;p36"/>
          <p:cNvCxnSpPr/>
          <p:nvPr/>
        </p:nvCxnSpPr>
        <p:spPr>
          <a:xfrm>
            <a:off x="7773176" y="3179033"/>
            <a:ext cx="52712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36"/>
          <p:cNvCxnSpPr/>
          <p:nvPr/>
        </p:nvCxnSpPr>
        <p:spPr>
          <a:xfrm>
            <a:off x="7771439" y="1906087"/>
            <a:ext cx="40202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36"/>
          <p:cNvCxnSpPr/>
          <p:nvPr/>
        </p:nvCxnSpPr>
        <p:spPr>
          <a:xfrm>
            <a:off x="7775513" y="628755"/>
            <a:ext cx="77516" cy="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69" name="Google Shape;769;p36"/>
          <p:cNvCxnSpPr/>
          <p:nvPr/>
        </p:nvCxnSpPr>
        <p:spPr>
          <a:xfrm>
            <a:off x="7106890" y="1433697"/>
            <a:ext cx="0" cy="47250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0" name="Google Shape;770;p36"/>
          <p:cNvCxnSpPr/>
          <p:nvPr/>
        </p:nvCxnSpPr>
        <p:spPr>
          <a:xfrm>
            <a:off x="6896442" y="1814495"/>
            <a:ext cx="0" cy="1369200"/>
          </a:xfrm>
          <a:prstGeom prst="straightConnector1">
            <a:avLst/>
          </a:prstGeom>
          <a:noFill/>
          <a:ln w="9525" cap="flat" cmpd="sng">
            <a:solidFill>
              <a:srgbClr val="00FCFE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5" name="Google Shape;785;p38"/>
          <p:cNvSpPr txBox="1">
            <a:spLocks noGrp="1"/>
          </p:cNvSpPr>
          <p:nvPr>
            <p:ph type="title" idx="2"/>
          </p:nvPr>
        </p:nvSpPr>
        <p:spPr>
          <a:xfrm>
            <a:off x="1303777" y="1433303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6" name="Google Shape;786;p38"/>
          <p:cNvSpPr txBox="1">
            <a:spLocks noGrp="1"/>
          </p:cNvSpPr>
          <p:nvPr>
            <p:ph type="title" idx="3"/>
          </p:nvPr>
        </p:nvSpPr>
        <p:spPr>
          <a:xfrm>
            <a:off x="4715652" y="1433303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7" name="Google Shape;787;p38"/>
          <p:cNvSpPr txBox="1">
            <a:spLocks noGrp="1"/>
          </p:cNvSpPr>
          <p:nvPr>
            <p:ph type="title" idx="4"/>
          </p:nvPr>
        </p:nvSpPr>
        <p:spPr>
          <a:xfrm>
            <a:off x="1303777" y="2558794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" name="Google Shape;788;p38"/>
          <p:cNvSpPr txBox="1">
            <a:spLocks noGrp="1"/>
          </p:cNvSpPr>
          <p:nvPr>
            <p:ph type="title" idx="5"/>
          </p:nvPr>
        </p:nvSpPr>
        <p:spPr>
          <a:xfrm>
            <a:off x="4715652" y="2558794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9" name="Google Shape;789;p38"/>
          <p:cNvSpPr txBox="1">
            <a:spLocks noGrp="1"/>
          </p:cNvSpPr>
          <p:nvPr>
            <p:ph type="title" idx="6"/>
          </p:nvPr>
        </p:nvSpPr>
        <p:spPr>
          <a:xfrm>
            <a:off x="1303777" y="3687425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0" name="Google Shape;790;p38"/>
          <p:cNvSpPr txBox="1">
            <a:spLocks noGrp="1"/>
          </p:cNvSpPr>
          <p:nvPr>
            <p:ph type="title" idx="7"/>
          </p:nvPr>
        </p:nvSpPr>
        <p:spPr>
          <a:xfrm>
            <a:off x="4715652" y="3687425"/>
            <a:ext cx="81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Google Shape;791;p38"/>
          <p:cNvSpPr txBox="1">
            <a:spLocks noGrp="1"/>
          </p:cNvSpPr>
          <p:nvPr>
            <p:ph type="subTitle" idx="1"/>
          </p:nvPr>
        </p:nvSpPr>
        <p:spPr>
          <a:xfrm>
            <a:off x="2122777" y="1280003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2" name="Google Shape;792;p38"/>
          <p:cNvSpPr txBox="1">
            <a:spLocks noGrp="1"/>
          </p:cNvSpPr>
          <p:nvPr>
            <p:ph type="subTitle" idx="8"/>
          </p:nvPr>
        </p:nvSpPr>
        <p:spPr>
          <a:xfrm>
            <a:off x="2122775" y="2405494"/>
            <a:ext cx="2670605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and brief explanation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9"/>
          </p:nvPr>
        </p:nvSpPr>
        <p:spPr>
          <a:xfrm>
            <a:off x="2122777" y="3534125"/>
            <a:ext cx="2592804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&amp; Literature review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4" name="Google Shape;794;p38"/>
          <p:cNvSpPr txBox="1">
            <a:spLocks noGrp="1"/>
          </p:cNvSpPr>
          <p:nvPr>
            <p:ph type="subTitle" idx="13"/>
          </p:nvPr>
        </p:nvSpPr>
        <p:spPr>
          <a:xfrm>
            <a:off x="5534723" y="1280003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5" name="Google Shape;795;p38"/>
          <p:cNvSpPr txBox="1">
            <a:spLocks noGrp="1"/>
          </p:cNvSpPr>
          <p:nvPr>
            <p:ph type="subTitle" idx="14"/>
          </p:nvPr>
        </p:nvSpPr>
        <p:spPr>
          <a:xfrm>
            <a:off x="5534723" y="2405494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6" name="Google Shape;796;p38"/>
          <p:cNvSpPr txBox="1">
            <a:spLocks noGrp="1"/>
          </p:cNvSpPr>
          <p:nvPr>
            <p:ph type="subTitle" idx="15"/>
          </p:nvPr>
        </p:nvSpPr>
        <p:spPr>
          <a:xfrm>
            <a:off x="5534723" y="3534125"/>
            <a:ext cx="2305500" cy="7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0"/>
          <p:cNvSpPr/>
          <p:nvPr/>
        </p:nvSpPr>
        <p:spPr>
          <a:xfrm>
            <a:off x="5150675" y="539500"/>
            <a:ext cx="3280200" cy="4064700"/>
          </a:xfrm>
          <a:prstGeom prst="roundRect">
            <a:avLst>
              <a:gd name="adj" fmla="val 539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sp>
        <p:nvSpPr>
          <p:cNvPr id="808" name="Google Shape;808;p40"/>
          <p:cNvSpPr txBox="1">
            <a:spLocks noGrp="1"/>
          </p:cNvSpPr>
          <p:nvPr>
            <p:ph type="title"/>
          </p:nvPr>
        </p:nvSpPr>
        <p:spPr>
          <a:xfrm>
            <a:off x="288758" y="2571750"/>
            <a:ext cx="5014761" cy="2016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Cancer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Immunotherapy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40"/>
          <p:cNvSpPr txBox="1">
            <a:spLocks noGrp="1"/>
          </p:cNvSpPr>
          <p:nvPr>
            <p:ph type="title" idx="2"/>
          </p:nvPr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0" name="Google Shape;810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59337" y="1797787"/>
            <a:ext cx="1862877" cy="236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4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752863" y="932154"/>
            <a:ext cx="451715" cy="45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0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7376972" y="932158"/>
            <a:ext cx="451715" cy="45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4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564916" y="905075"/>
            <a:ext cx="451717" cy="5058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4" name="Google Shape;814;p40"/>
          <p:cNvCxnSpPr>
            <a:stCxn id="811" idx="2"/>
            <a:endCxn id="810" idx="0"/>
          </p:cNvCxnSpPr>
          <p:nvPr/>
        </p:nvCxnSpPr>
        <p:spPr>
          <a:xfrm rot="-5400000" flipH="1">
            <a:off x="6177770" y="1184819"/>
            <a:ext cx="414000" cy="8121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5" name="Google Shape;815;p40"/>
          <p:cNvCxnSpPr>
            <a:stCxn id="812" idx="2"/>
            <a:endCxn id="810" idx="0"/>
          </p:cNvCxnSpPr>
          <p:nvPr/>
        </p:nvCxnSpPr>
        <p:spPr>
          <a:xfrm rot="5400000">
            <a:off x="6989780" y="1184823"/>
            <a:ext cx="414000" cy="8121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6" name="Google Shape;816;p40"/>
          <p:cNvCxnSpPr>
            <a:stCxn id="813" idx="2"/>
            <a:endCxn id="810" idx="0"/>
          </p:cNvCxnSpPr>
          <p:nvPr/>
        </p:nvCxnSpPr>
        <p:spPr>
          <a:xfrm rot="-5400000" flipH="1">
            <a:off x="6597725" y="1604002"/>
            <a:ext cx="386700" cy="6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17" name="Google Shape;817;p40"/>
          <p:cNvSpPr/>
          <p:nvPr/>
        </p:nvSpPr>
        <p:spPr>
          <a:xfrm rot="10800000">
            <a:off x="5150975" y="4166225"/>
            <a:ext cx="3280200" cy="451800"/>
          </a:xfrm>
          <a:prstGeom prst="round2SameRect">
            <a:avLst>
              <a:gd name="adj1" fmla="val 30727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sp>
        <p:nvSpPr>
          <p:cNvPr id="4" name="Google Shape;785;p38"/>
          <p:cNvSpPr txBox="1"/>
          <p:nvPr/>
        </p:nvSpPr>
        <p:spPr>
          <a:xfrm>
            <a:off x="7940321" y="4463976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GB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2"/>
          <p:cNvSpPr txBox="1">
            <a:spLocks noGrp="1"/>
          </p:cNvSpPr>
          <p:nvPr>
            <p:ph type="subTitle" idx="1"/>
          </p:nvPr>
        </p:nvSpPr>
        <p:spPr>
          <a:xfrm>
            <a:off x="720000" y="1136984"/>
            <a:ext cx="5257288" cy="3127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mmuno-oncology, is a type of cancer treatment that stimulates the immune system to fight cancer. It enhances the immune system's natural ability to recognize and attack cancer cells.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either stimulating the immune response or removing the barriers that prevent immune cells from targeting cancer. Immunotherapy offers a targeted, long-lasting approach with fewer side effects compared to traditional cancer treatments like chemotherapy and radiation.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0000" y="564284"/>
            <a:ext cx="8115992" cy="572700"/>
          </a:xfrm>
        </p:spPr>
        <p:txBody>
          <a:bodyPr/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"Unleashing the Body’s Warriors: The Power of Cancer Immunotherapy"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What is Immunotherapy for Cancer? - oNKo-inn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288" y="1353297"/>
            <a:ext cx="2777296" cy="277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Traditional treatment vs Cancer Immunotheraphy</a:t>
            </a:r>
            <a:br>
              <a:rPr lang="en-GB" dirty="0"/>
            </a:br>
            <a:endParaRPr dirty="0"/>
          </a:p>
        </p:txBody>
      </p:sp>
      <p:graphicFrame>
        <p:nvGraphicFramePr>
          <p:cNvPr id="1199" name="Google Shape;1199;p60"/>
          <p:cNvGraphicFramePr/>
          <p:nvPr/>
        </p:nvGraphicFramePr>
        <p:xfrm>
          <a:off x="669390" y="1274550"/>
          <a:ext cx="7704000" cy="2958889"/>
        </p:xfrm>
        <a:graphic>
          <a:graphicData uri="http://schemas.openxmlformats.org/drawingml/2006/table">
            <a:tbl>
              <a:tblPr>
                <a:noFill/>
                <a:tableStyleId>{D1FF6C63-1ED2-4777-806D-654D46DE21AE}</a:tableStyleId>
              </a:tblPr>
              <a:tblGrid>
                <a:gridCol w="3216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01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Glory SemiBold"/>
                          <a:ea typeface="Glory SemiBold"/>
                          <a:cs typeface="Glory SemiBold"/>
                          <a:sym typeface="Glory SemiBold"/>
                        </a:rPr>
                        <a:t>Feature</a:t>
                      </a:r>
                      <a:endParaRPr sz="2000" dirty="0">
                        <a:solidFill>
                          <a:schemeClr val="dk1"/>
                        </a:solidFill>
                        <a:latin typeface="Glory SemiBold"/>
                        <a:ea typeface="Glory SemiBold"/>
                        <a:cs typeface="Glory SemiBold"/>
                        <a:sym typeface="Glory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dk1"/>
                          </a:solidFill>
                          <a:latin typeface="Glory SemiBold"/>
                          <a:ea typeface="Glory SemiBold"/>
                          <a:cs typeface="Glory SemiBold"/>
                          <a:sym typeface="Glory SemiBold"/>
                        </a:rPr>
                        <a:t>Traditional treatment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dk1"/>
                          </a:solidFill>
                          <a:latin typeface="Glory SemiBold"/>
                          <a:ea typeface="Glory SemiBold"/>
                          <a:cs typeface="Glory SemiBold"/>
                          <a:sym typeface="Glory SemiBold"/>
                        </a:rPr>
                        <a:t>(chemo &amp; radiation)</a:t>
                      </a:r>
                      <a:endParaRPr sz="1400" dirty="0">
                        <a:solidFill>
                          <a:schemeClr val="dk1"/>
                        </a:solidFill>
                        <a:latin typeface="Glory SemiBold"/>
                        <a:ea typeface="Glory SemiBold"/>
                        <a:cs typeface="Glory SemiBold"/>
                        <a:sym typeface="Glory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dk1"/>
                          </a:solidFill>
                          <a:latin typeface="Glory SemiBold"/>
                          <a:ea typeface="Glory SemiBold"/>
                          <a:cs typeface="Glory SemiBold"/>
                          <a:sym typeface="Glory SemiBold"/>
                        </a:rPr>
                        <a:t>Cancer Immunotherapy</a:t>
                      </a:r>
                      <a:endParaRPr sz="1800" dirty="0">
                        <a:solidFill>
                          <a:schemeClr val="dk1"/>
                        </a:solidFill>
                        <a:latin typeface="Glory SemiBold"/>
                        <a:ea typeface="Glory SemiBold"/>
                        <a:cs typeface="Glory SemiBold"/>
                        <a:sym typeface="Glory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74">
                <a:tc>
                  <a:txBody>
                    <a:bodyPr/>
                    <a:lstStyle/>
                    <a:p>
                      <a:pPr marL="0" lvl="0" indent="57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374">
                <a:tc>
                  <a:txBody>
                    <a:bodyPr/>
                    <a:lstStyle/>
                    <a:p>
                      <a:pPr marL="0" lvl="0" indent="57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74">
                <a:tc>
                  <a:txBody>
                    <a:bodyPr/>
                    <a:lstStyle/>
                    <a:p>
                      <a:pPr marL="0" lvl="0" indent="57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374">
                <a:tc>
                  <a:txBody>
                    <a:bodyPr/>
                    <a:lstStyle/>
                    <a:p>
                      <a:pPr marL="0" lvl="0" indent="57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374">
                <a:tc>
                  <a:txBody>
                    <a:bodyPr/>
                    <a:lstStyle/>
                    <a:p>
                      <a:pPr marL="0" lvl="0" indent="57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9390" y="3710989"/>
          <a:ext cx="7805220" cy="551587"/>
        </p:xfrm>
        <a:graphic>
          <a:graphicData uri="http://schemas.openxmlformats.org/drawingml/2006/table">
            <a:tbl>
              <a:tblPr/>
              <a:tblGrid>
                <a:gridCol w="319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587">
                <a:tc>
                  <a:txBody>
                    <a:bodyPr/>
                    <a:lstStyle/>
                    <a:p>
                      <a:r>
                        <a:rPr lang="en-US" sz="1200" b="1"/>
                        <a:t>Mechanism of Action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Directly attacks and kills cancer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Activates the immune system to target cancer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4966" y="3280351"/>
          <a:ext cx="7718424" cy="457200"/>
        </p:xfrm>
        <a:graphic>
          <a:graphicData uri="http://schemas.openxmlformats.org/drawingml/2006/table">
            <a:tbl>
              <a:tblPr/>
              <a:tblGrid>
                <a:gridCol w="324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Target Specificity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Affects both cancerous and healthy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Mostly targets cancer cells, sparing healthy tissue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2794014"/>
          <a:ext cx="7718424" cy="457200"/>
        </p:xfrm>
        <a:graphic>
          <a:graphicData uri="http://schemas.openxmlformats.org/drawingml/2006/table">
            <a:tbl>
              <a:tblPr/>
              <a:tblGrid>
                <a:gridCol w="3139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3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Side Effects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Severe (hair loss, nausea, immune suppression)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Milder (some immune-related side effects)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7999" y="1870075"/>
          <a:ext cx="7718424" cy="457200"/>
        </p:xfrm>
        <a:graphic>
          <a:graphicData uri="http://schemas.openxmlformats.org/drawingml/2006/table">
            <a:tbl>
              <a:tblPr/>
              <a:tblGrid>
                <a:gridCol w="3320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1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 Effectiveness Over Time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Cancer may return or develop resistance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 provide long-term protection (immune memory)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4966" y="2367315"/>
          <a:ext cx="7718424" cy="457200"/>
        </p:xfrm>
        <a:graphic>
          <a:graphicData uri="http://schemas.openxmlformats.org/drawingml/2006/table">
            <a:tbl>
              <a:tblPr/>
              <a:tblGrid>
                <a:gridCol w="324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Long-Term Benefits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Temporary effect, often requiring repeated 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 "train" the immune system for lasting cancer defense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05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7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67439" y="449418"/>
            <a:ext cx="1527000" cy="424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71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8238561" y="650437"/>
            <a:ext cx="184089" cy="38426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7;p63"/>
          <p:cNvSpPr txBox="1"/>
          <p:nvPr/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GB" dirty="0"/>
          </a:p>
        </p:txBody>
      </p:sp>
      <p:sp>
        <p:nvSpPr>
          <p:cNvPr id="8" name="Google Shape;1236;p63"/>
          <p:cNvSpPr txBox="1">
            <a:spLocks noGrp="1"/>
          </p:cNvSpPr>
          <p:nvPr>
            <p:ph type="title"/>
          </p:nvPr>
        </p:nvSpPr>
        <p:spPr>
          <a:xfrm>
            <a:off x="865625" y="3382160"/>
            <a:ext cx="530256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5400" dirty="0"/>
              <a:t>Case study and brief explanation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9" name="Google Shape;1237;p63"/>
          <p:cNvSpPr txBox="1"/>
          <p:nvPr/>
        </p:nvSpPr>
        <p:spPr>
          <a:xfrm>
            <a:off x="865625" y="207795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7200" b="1" dirty="0">
                <a:solidFill>
                  <a:schemeClr val="accent1">
                    <a:lumMod val="75000"/>
                  </a:schemeClr>
                </a:solidFill>
              </a:rPr>
              <a:t>02</a:t>
            </a:r>
          </a:p>
        </p:txBody>
      </p:sp>
      <p:grpSp>
        <p:nvGrpSpPr>
          <p:cNvPr id="2" name="Google Shape;5274;p82"/>
          <p:cNvGrpSpPr/>
          <p:nvPr/>
        </p:nvGrpSpPr>
        <p:grpSpPr>
          <a:xfrm>
            <a:off x="3667862" y="818973"/>
            <a:ext cx="2749952" cy="870677"/>
            <a:chOff x="238125" y="1725700"/>
            <a:chExt cx="7139025" cy="2260325"/>
          </a:xfrm>
        </p:grpSpPr>
        <p:sp>
          <p:nvSpPr>
            <p:cNvPr id="3" name="Google Shape;5275;p82"/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276;p82"/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77;p82"/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278;p82"/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79;p82"/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80;p82"/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81;p82"/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82;p82"/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83;p82"/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84;p82"/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06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Types Of Immunotherapy</a:t>
            </a:r>
            <a:endParaRPr dirty="0"/>
          </a:p>
        </p:txBody>
      </p:sp>
      <p:sp>
        <p:nvSpPr>
          <p:cNvPr id="1332" name="Google Shape;1332;p69"/>
          <p:cNvSpPr txBox="1"/>
          <p:nvPr/>
        </p:nvSpPr>
        <p:spPr>
          <a:xfrm>
            <a:off x="3374575" y="1290525"/>
            <a:ext cx="2381400" cy="572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Cancer Immunotherapy</a:t>
            </a:r>
            <a:endParaRPr sz="20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333" name="Google Shape;1333;p69"/>
          <p:cNvSpPr txBox="1">
            <a:spLocks noGrp="1"/>
          </p:cNvSpPr>
          <p:nvPr>
            <p:ph type="subTitle" idx="4294967295"/>
          </p:nvPr>
        </p:nvSpPr>
        <p:spPr>
          <a:xfrm>
            <a:off x="713225" y="3439091"/>
            <a:ext cx="2381359" cy="11649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Checkpoint Inhibitors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Cytokine Therapy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Therapeutic Cancer Vaccines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334" name="Google Shape;1334;p69"/>
          <p:cNvSpPr txBox="1">
            <a:spLocks noGrp="1"/>
          </p:cNvSpPr>
          <p:nvPr>
            <p:ph type="subTitle" idx="4294967295"/>
          </p:nvPr>
        </p:nvSpPr>
        <p:spPr>
          <a:xfrm>
            <a:off x="3374566" y="3439091"/>
            <a:ext cx="2381400" cy="11649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CAR-T Cell Therapy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Adoptive Cell Therapy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35" name="Google Shape;1335;p69"/>
          <p:cNvSpPr txBox="1">
            <a:spLocks noGrp="1"/>
          </p:cNvSpPr>
          <p:nvPr>
            <p:ph type="subTitle" idx="4294967295"/>
          </p:nvPr>
        </p:nvSpPr>
        <p:spPr>
          <a:xfrm>
            <a:off x="6035926" y="3438999"/>
            <a:ext cx="2381400" cy="11649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Monoclonal Antibodies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Oncolytic Virus Therapy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Preventive Cancer Vaccines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336" name="Google Shape;1336;p69"/>
          <p:cNvSpPr txBox="1">
            <a:spLocks noGrp="1"/>
          </p:cNvSpPr>
          <p:nvPr>
            <p:ph type="subTitle" idx="4294967295"/>
          </p:nvPr>
        </p:nvSpPr>
        <p:spPr>
          <a:xfrm>
            <a:off x="713225" y="2720725"/>
            <a:ext cx="2381400" cy="4221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Glory SemiBold"/>
                <a:ea typeface="Glory SemiBold"/>
                <a:cs typeface="Glory SemiBold"/>
                <a:sym typeface="Glory SemiBold"/>
              </a:rPr>
              <a:t>Immunestimulatory therapy</a:t>
            </a:r>
            <a:endParaRPr sz="1400" dirty="0"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337" name="Google Shape;1337;p69"/>
          <p:cNvSpPr txBox="1">
            <a:spLocks noGrp="1"/>
          </p:cNvSpPr>
          <p:nvPr>
            <p:ph type="subTitle" idx="4294967295"/>
          </p:nvPr>
        </p:nvSpPr>
        <p:spPr>
          <a:xfrm>
            <a:off x="6035927" y="2720725"/>
            <a:ext cx="2381400" cy="4221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lory SemiBold"/>
                <a:ea typeface="Glory SemiBold"/>
                <a:cs typeface="Glory SemiBold"/>
                <a:sym typeface="Glory SemiBold"/>
              </a:rPr>
              <a:t>Targeted Immunotherapy</a:t>
            </a:r>
            <a:endParaRPr sz="1600" dirty="0"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338" name="Google Shape;1338;p69"/>
          <p:cNvSpPr txBox="1">
            <a:spLocks noGrp="1"/>
          </p:cNvSpPr>
          <p:nvPr>
            <p:ph type="subTitle" idx="4294967295"/>
          </p:nvPr>
        </p:nvSpPr>
        <p:spPr>
          <a:xfrm>
            <a:off x="3374523" y="2720725"/>
            <a:ext cx="2381443" cy="4221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dirty="0">
                <a:latin typeface="Glory SemiBold"/>
                <a:ea typeface="Glory SemiBold"/>
                <a:cs typeface="Glory SemiBold"/>
                <a:sym typeface="Glory SemiBold"/>
              </a:rPr>
              <a:t>Cell based therapy</a:t>
            </a:r>
            <a:endParaRPr sz="1900" dirty="0"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cxnSp>
        <p:nvCxnSpPr>
          <p:cNvPr id="1339" name="Google Shape;1339;p69"/>
          <p:cNvCxnSpPr>
            <a:stCxn id="1332" idx="2"/>
            <a:endCxn id="1336" idx="0"/>
          </p:cNvCxnSpPr>
          <p:nvPr/>
        </p:nvCxnSpPr>
        <p:spPr>
          <a:xfrm rot="5400000">
            <a:off x="2805925" y="961275"/>
            <a:ext cx="857400" cy="2661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69"/>
          <p:cNvCxnSpPr>
            <a:stCxn id="1332" idx="2"/>
            <a:endCxn id="1337" idx="0"/>
          </p:cNvCxnSpPr>
          <p:nvPr/>
        </p:nvCxnSpPr>
        <p:spPr>
          <a:xfrm rot="-5400000" flipH="1">
            <a:off x="5467225" y="961275"/>
            <a:ext cx="857400" cy="2661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1" name="Google Shape;1341;p69"/>
          <p:cNvCxnSpPr>
            <a:stCxn id="1332" idx="2"/>
            <a:endCxn id="1338" idx="0"/>
          </p:cNvCxnSpPr>
          <p:nvPr/>
        </p:nvCxnSpPr>
        <p:spPr>
          <a:xfrm rot="5400000">
            <a:off x="4136510" y="2291960"/>
            <a:ext cx="857500" cy="3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2" name="Google Shape;1342;p69"/>
          <p:cNvCxnSpPr>
            <a:stCxn id="1336" idx="2"/>
            <a:endCxn id="1333" idx="0"/>
          </p:cNvCxnSpPr>
          <p:nvPr/>
        </p:nvCxnSpPr>
        <p:spPr>
          <a:xfrm flipH="1">
            <a:off x="1903905" y="3142825"/>
            <a:ext cx="20" cy="2962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3" name="Google Shape;1343;p69"/>
          <p:cNvCxnSpPr>
            <a:stCxn id="1338" idx="2"/>
            <a:endCxn id="1334" idx="0"/>
          </p:cNvCxnSpPr>
          <p:nvPr/>
        </p:nvCxnSpPr>
        <p:spPr>
          <a:xfrm>
            <a:off x="4565245" y="3142825"/>
            <a:ext cx="21" cy="2962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4" name="Google Shape;1344;p69"/>
          <p:cNvCxnSpPr>
            <a:stCxn id="1337" idx="2"/>
            <a:endCxn id="1335" idx="0"/>
          </p:cNvCxnSpPr>
          <p:nvPr/>
        </p:nvCxnSpPr>
        <p:spPr>
          <a:xfrm>
            <a:off x="7226627" y="3142825"/>
            <a:ext cx="0" cy="29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802359" y="4437621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07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Types Of Immunotheraphy</a:t>
            </a:r>
            <a:endParaRPr dirty="0"/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08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Case Study</a:t>
            </a:r>
            <a:endParaRPr dirty="0"/>
          </a:p>
        </p:txBody>
      </p:sp>
      <p:sp>
        <p:nvSpPr>
          <p:cNvPr id="838" name="Google Shape;838;p43"/>
          <p:cNvSpPr txBox="1">
            <a:spLocks noGrp="1"/>
          </p:cNvSpPr>
          <p:nvPr>
            <p:ph type="subTitle" idx="2"/>
          </p:nvPr>
        </p:nvSpPr>
        <p:spPr>
          <a:xfrm>
            <a:off x="507687" y="1222118"/>
            <a:ext cx="8183925" cy="3476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 dirty="0"/>
              <a:t>Case</a:t>
            </a:r>
            <a:r>
              <a:rPr lang="en-US" dirty="0"/>
              <a:t> </a:t>
            </a:r>
            <a:r>
              <a:rPr lang="en-US" sz="1400" b="1" u="sng" dirty="0"/>
              <a:t>Study</a:t>
            </a:r>
            <a:r>
              <a:rPr lang="en-US" dirty="0"/>
              <a:t>: Immunochemotherapy for Metastatic </a:t>
            </a:r>
            <a:r>
              <a:rPr lang="en-US" b="0" i="0" dirty="0">
                <a:effectLst/>
                <a:latin typeface="fkGroteskNeue"/>
              </a:rPr>
              <a:t>cutaneous squamous cell carcinoma (CSCC) (a type of skin cancer)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Patient</a:t>
            </a:r>
            <a:r>
              <a:rPr lang="en-US" dirty="0"/>
              <a:t>: A 70 Y/O male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Medical History/Allergies: None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Diagnosis</a:t>
            </a:r>
            <a:r>
              <a:rPr lang="en-US" dirty="0"/>
              <a:t>: </a:t>
            </a:r>
            <a:r>
              <a:rPr lang="en-US" b="0" i="0" dirty="0">
                <a:effectLst/>
                <a:latin typeface="fkGroteskNeue"/>
              </a:rPr>
              <a:t>Traditional treatments were ineffective, leading to a referral for hospice care due to the extensive nature of the disease. 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400" b="1" u="sng" dirty="0"/>
              <a:t>Treatment</a:t>
            </a:r>
            <a:r>
              <a:rPr lang="en-US" dirty="0"/>
              <a:t>: </a:t>
            </a:r>
            <a:r>
              <a:rPr lang="en-US" b="0" i="0" dirty="0">
                <a:effectLst/>
                <a:latin typeface="fkGroteskNeue"/>
              </a:rPr>
              <a:t>Medical oncology recommended immunotherapy using </a:t>
            </a:r>
            <a:r>
              <a:rPr lang="en-US" b="0" i="0" dirty="0" err="1">
                <a:effectLst/>
                <a:latin typeface="fkGroteskNeue"/>
              </a:rPr>
              <a:t>cemiplimab</a:t>
            </a:r>
            <a:r>
              <a:rPr lang="en-US" b="0" i="0" dirty="0">
                <a:effectLst/>
                <a:latin typeface="fkGroteskNeue"/>
              </a:rPr>
              <a:t>, an immune checkpoint inhibitor, in conjunction with QUAD shot radiotherapy.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u="sng" dirty="0" err="1"/>
              <a:t>Outcomes</a:t>
            </a:r>
            <a:r>
              <a:rPr lang="en-US" dirty="0" err="1"/>
              <a:t>:</a:t>
            </a:r>
            <a:r>
              <a:rPr lang="en-US" dirty="0" err="1">
                <a:latin typeface="fkGroteskNeue"/>
              </a:rPr>
              <a:t>T</a:t>
            </a:r>
            <a:r>
              <a:rPr lang="en-US" b="0" i="0" dirty="0" err="1">
                <a:effectLst/>
                <a:latin typeface="fkGroteskNeue"/>
              </a:rPr>
              <a:t>he</a:t>
            </a:r>
            <a:r>
              <a:rPr lang="en-US" b="0" i="0" dirty="0">
                <a:effectLst/>
                <a:latin typeface="fkGroteskNeue"/>
              </a:rPr>
              <a:t> lesion demonstrated a 75% reduction in size, significantly improving his condition.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fkGroteskNeue"/>
              </a:rPr>
              <a:t>     </a:t>
            </a:r>
            <a:r>
              <a:rPr lang="en-US" b="0" i="0" dirty="0">
                <a:effectLst/>
                <a:latin typeface="fkGroteskNeue"/>
              </a:rPr>
              <a:t>This case underscores the potential effectiveness of immune checkpoint inhibitors like </a:t>
            </a:r>
            <a:r>
              <a:rPr lang="en-US" b="0" i="0" dirty="0" err="1">
                <a:effectLst/>
                <a:latin typeface="fkGroteskNeue"/>
              </a:rPr>
              <a:t>cemiplimab</a:t>
            </a:r>
            <a:r>
              <a:rPr lang="en-US" b="0" i="0" dirty="0">
                <a:effectLst/>
                <a:latin typeface="fkGroteskNeue"/>
              </a:rPr>
              <a:t> for patients with advanced   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fkGroteskNeue"/>
              </a:rPr>
              <a:t>     </a:t>
            </a:r>
            <a:r>
              <a:rPr lang="en-US" b="0" i="0" dirty="0">
                <a:effectLst/>
                <a:latin typeface="fkGroteskNeue"/>
              </a:rPr>
              <a:t>CSCC who have not responded to traditional therapies</a:t>
            </a:r>
            <a:endParaRPr lang="en-US" dirty="0"/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09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Case Study Cancer Immunotheraphy</a:t>
            </a:r>
            <a:endParaRPr dirty="0"/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10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076" name="Picture 4" descr="Immune Checkpoint Inhibitors - The Cancer New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4" t="8652" r="2346" b="27565"/>
          <a:stretch>
            <a:fillRect/>
          </a:stretch>
        </p:blipFill>
        <p:spPr bwMode="auto">
          <a:xfrm>
            <a:off x="647128" y="1262148"/>
            <a:ext cx="7514225" cy="328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7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67439" y="449418"/>
            <a:ext cx="1527000" cy="424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71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8238561" y="650437"/>
            <a:ext cx="184089" cy="38426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7;p63"/>
          <p:cNvSpPr txBox="1"/>
          <p:nvPr/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GB" dirty="0"/>
          </a:p>
        </p:txBody>
      </p:sp>
      <p:sp>
        <p:nvSpPr>
          <p:cNvPr id="8" name="Google Shape;1236;p63"/>
          <p:cNvSpPr txBox="1">
            <a:spLocks noGrp="1"/>
          </p:cNvSpPr>
          <p:nvPr>
            <p:ph type="title"/>
          </p:nvPr>
        </p:nvSpPr>
        <p:spPr>
          <a:xfrm>
            <a:off x="1021233" y="3158667"/>
            <a:ext cx="530256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5400" dirty="0"/>
              <a:t>Timeline &amp; Literature review</a:t>
            </a:r>
          </a:p>
        </p:txBody>
      </p:sp>
      <p:sp>
        <p:nvSpPr>
          <p:cNvPr id="9" name="Google Shape;1237;p63"/>
          <p:cNvSpPr txBox="1"/>
          <p:nvPr/>
        </p:nvSpPr>
        <p:spPr>
          <a:xfrm>
            <a:off x="865625" y="207795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7200" b="1" dirty="0">
                <a:solidFill>
                  <a:schemeClr val="accent1">
                    <a:lumMod val="75000"/>
                  </a:schemeClr>
                </a:solidFill>
              </a:rPr>
              <a:t>03</a:t>
            </a:r>
          </a:p>
        </p:txBody>
      </p:sp>
      <p:grpSp>
        <p:nvGrpSpPr>
          <p:cNvPr id="16" name="Google Shape;3996;p79"/>
          <p:cNvGrpSpPr/>
          <p:nvPr/>
        </p:nvGrpSpPr>
        <p:grpSpPr>
          <a:xfrm>
            <a:off x="3792354" y="449418"/>
            <a:ext cx="2531444" cy="2122331"/>
            <a:chOff x="2183288" y="3555572"/>
            <a:chExt cx="1136241" cy="835873"/>
          </a:xfrm>
        </p:grpSpPr>
        <p:sp>
          <p:nvSpPr>
            <p:cNvPr id="17" name="Google Shape;3997;p79"/>
            <p:cNvSpPr/>
            <p:nvPr/>
          </p:nvSpPr>
          <p:spPr>
            <a:xfrm>
              <a:off x="2673740" y="4350566"/>
              <a:ext cx="270028" cy="11697"/>
            </a:xfrm>
            <a:custGeom>
              <a:avLst/>
              <a:gdLst/>
              <a:ahLst/>
              <a:cxnLst/>
              <a:rect l="l" t="t" r="r" b="b"/>
              <a:pathLst>
                <a:path w="106520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106520" y="2705"/>
                  </a:lnTo>
                  <a:lnTo>
                    <a:pt x="106520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3998;p79"/>
            <p:cNvGrpSpPr/>
            <p:nvPr/>
          </p:nvGrpSpPr>
          <p:grpSpPr>
            <a:xfrm>
              <a:off x="2205895" y="3637269"/>
              <a:ext cx="1089848" cy="724993"/>
              <a:chOff x="2205895" y="3637269"/>
              <a:chExt cx="1089848" cy="724993"/>
            </a:xfrm>
          </p:grpSpPr>
          <p:sp>
            <p:nvSpPr>
              <p:cNvPr id="32" name="Google Shape;3999;p79"/>
              <p:cNvSpPr/>
              <p:nvPr/>
            </p:nvSpPr>
            <p:spPr>
              <a:xfrm>
                <a:off x="2205895" y="4204394"/>
                <a:ext cx="555376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000;p79"/>
              <p:cNvSpPr/>
              <p:nvPr/>
            </p:nvSpPr>
            <p:spPr>
              <a:xfrm>
                <a:off x="2206834" y="3993916"/>
                <a:ext cx="218757" cy="15340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001;p79"/>
              <p:cNvSpPr/>
              <p:nvPr/>
            </p:nvSpPr>
            <p:spPr>
              <a:xfrm>
                <a:off x="2487003" y="3847747"/>
                <a:ext cx="808740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002;p79"/>
              <p:cNvSpPr/>
              <p:nvPr/>
            </p:nvSpPr>
            <p:spPr>
              <a:xfrm>
                <a:off x="2919192" y="3637269"/>
                <a:ext cx="375081" cy="14849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4003;p79"/>
              <p:cNvSpPr/>
              <p:nvPr/>
            </p:nvSpPr>
            <p:spPr>
              <a:xfrm>
                <a:off x="2233143" y="3637269"/>
                <a:ext cx="621199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004;p79"/>
              <p:cNvSpPr/>
              <p:nvPr/>
            </p:nvSpPr>
            <p:spPr>
              <a:xfrm>
                <a:off x="3004568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4005;p79"/>
            <p:cNvSpPr/>
            <p:nvPr/>
          </p:nvSpPr>
          <p:spPr>
            <a:xfrm rot="5400000">
              <a:off x="2852961" y="3612770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4006;p79"/>
            <p:cNvCxnSpPr/>
            <p:nvPr/>
          </p:nvCxnSpPr>
          <p:spPr>
            <a:xfrm>
              <a:off x="2887992" y="3555572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21" name="Google Shape;4007;p79"/>
            <p:cNvGrpSpPr/>
            <p:nvPr/>
          </p:nvGrpSpPr>
          <p:grpSpPr>
            <a:xfrm>
              <a:off x="3173850" y="3779426"/>
              <a:ext cx="145679" cy="70048"/>
              <a:chOff x="3173850" y="3779426"/>
              <a:chExt cx="145679" cy="70048"/>
            </a:xfrm>
          </p:grpSpPr>
          <p:cxnSp>
            <p:nvCxnSpPr>
              <p:cNvPr id="30" name="Google Shape;4008;p79"/>
              <p:cNvCxnSpPr/>
              <p:nvPr/>
            </p:nvCxnSpPr>
            <p:spPr>
              <a:xfrm rot="10800000">
                <a:off x="3173850" y="3817250"/>
                <a:ext cx="94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31" name="Google Shape;4009;p79"/>
              <p:cNvSpPr/>
              <p:nvPr/>
            </p:nvSpPr>
            <p:spPr>
              <a:xfrm rot="5400000">
                <a:off x="3254146" y="378409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4010;p79"/>
            <p:cNvGrpSpPr/>
            <p:nvPr/>
          </p:nvGrpSpPr>
          <p:grpSpPr>
            <a:xfrm>
              <a:off x="2183288" y="4139483"/>
              <a:ext cx="145133" cy="70048"/>
              <a:chOff x="2183288" y="4139483"/>
              <a:chExt cx="145133" cy="70048"/>
            </a:xfrm>
          </p:grpSpPr>
          <p:cxnSp>
            <p:nvCxnSpPr>
              <p:cNvPr id="28" name="Google Shape;4011;p79"/>
              <p:cNvCxnSpPr/>
              <p:nvPr/>
            </p:nvCxnSpPr>
            <p:spPr>
              <a:xfrm rot="10800000">
                <a:off x="2239021" y="4174494"/>
                <a:ext cx="89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sp>
            <p:nvSpPr>
              <p:cNvPr id="29" name="Google Shape;4012;p79"/>
              <p:cNvSpPr/>
              <p:nvPr/>
            </p:nvSpPr>
            <p:spPr>
              <a:xfrm rot="5400000">
                <a:off x="2178622" y="4144149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" name="Google Shape;4013;p79"/>
            <p:cNvSpPr/>
            <p:nvPr/>
          </p:nvSpPr>
          <p:spPr>
            <a:xfrm rot="5400000">
              <a:off x="2420934" y="3967554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" name="Google Shape;4014;p79"/>
            <p:cNvCxnSpPr/>
            <p:nvPr/>
          </p:nvCxnSpPr>
          <p:spPr>
            <a:xfrm>
              <a:off x="2455973" y="3911736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25" name="Google Shape;4015;p79"/>
            <p:cNvGrpSpPr/>
            <p:nvPr/>
          </p:nvGrpSpPr>
          <p:grpSpPr>
            <a:xfrm>
              <a:off x="2943836" y="4268886"/>
              <a:ext cx="60717" cy="122559"/>
              <a:chOff x="2943836" y="4268886"/>
              <a:chExt cx="60717" cy="122559"/>
            </a:xfrm>
          </p:grpSpPr>
          <p:sp>
            <p:nvSpPr>
              <p:cNvPr id="26" name="Google Shape;4016;p79"/>
              <p:cNvSpPr/>
              <p:nvPr/>
            </p:nvSpPr>
            <p:spPr>
              <a:xfrm rot="5400000">
                <a:off x="2939170" y="432606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" name="Google Shape;4017;p79"/>
              <p:cNvCxnSpPr/>
              <p:nvPr/>
            </p:nvCxnSpPr>
            <p:spPr>
              <a:xfrm>
                <a:off x="2974204" y="426888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</p:grpSp>
      </p:grpSp>
      <p:grpSp>
        <p:nvGrpSpPr>
          <p:cNvPr id="51" name="Google Shape;4196;p79"/>
          <p:cNvGrpSpPr/>
          <p:nvPr/>
        </p:nvGrpSpPr>
        <p:grpSpPr>
          <a:xfrm>
            <a:off x="1283645" y="756687"/>
            <a:ext cx="1871359" cy="915889"/>
            <a:chOff x="6777990" y="3710194"/>
            <a:chExt cx="1646915" cy="677381"/>
          </a:xfrm>
        </p:grpSpPr>
        <p:grpSp>
          <p:nvGrpSpPr>
            <p:cNvPr id="52" name="Google Shape;4197;p79"/>
            <p:cNvGrpSpPr/>
            <p:nvPr/>
          </p:nvGrpSpPr>
          <p:grpSpPr>
            <a:xfrm>
              <a:off x="6777990" y="3874492"/>
              <a:ext cx="411129" cy="513083"/>
              <a:chOff x="6777990" y="3874492"/>
              <a:chExt cx="411129" cy="513083"/>
            </a:xfrm>
          </p:grpSpPr>
          <p:cxnSp>
            <p:nvCxnSpPr>
              <p:cNvPr id="62" name="Google Shape;4198;p79"/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63" name="Google Shape;4199;p79"/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" name="Google Shape;4200;p79"/>
            <p:cNvGrpSpPr/>
            <p:nvPr/>
          </p:nvGrpSpPr>
          <p:grpSpPr>
            <a:xfrm>
              <a:off x="7188425" y="3710194"/>
              <a:ext cx="411123" cy="520535"/>
              <a:chOff x="7188425" y="3710194"/>
              <a:chExt cx="411123" cy="520535"/>
            </a:xfrm>
          </p:grpSpPr>
          <p:cxnSp>
            <p:nvCxnSpPr>
              <p:cNvPr id="60" name="Google Shape;4201;p79"/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61" name="Google Shape;4202;p79"/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1" h="60023" extrusionOk="0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4203;p79"/>
            <p:cNvGrpSpPr/>
            <p:nvPr/>
          </p:nvGrpSpPr>
          <p:grpSpPr>
            <a:xfrm>
              <a:off x="7603341" y="3874492"/>
              <a:ext cx="411474" cy="513083"/>
              <a:chOff x="7603341" y="3874492"/>
              <a:chExt cx="411474" cy="513083"/>
            </a:xfrm>
          </p:grpSpPr>
          <p:cxnSp>
            <p:nvCxnSpPr>
              <p:cNvPr id="58" name="Google Shape;4204;p79"/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59" name="Google Shape;4205;p79"/>
              <p:cNvSpPr/>
              <p:nvPr/>
            </p:nvSpPr>
            <p:spPr>
              <a:xfrm>
                <a:off x="7603341" y="3874492"/>
                <a:ext cx="411474" cy="356236"/>
              </a:xfrm>
              <a:custGeom>
                <a:avLst/>
                <a:gdLst/>
                <a:ahLst/>
                <a:cxnLst/>
                <a:rect l="l" t="t" r="r" b="b"/>
                <a:pathLst>
                  <a:path w="69330" h="60023" extrusionOk="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5" name="Google Shape;4206;p79"/>
            <p:cNvGrpSpPr/>
            <p:nvPr/>
          </p:nvGrpSpPr>
          <p:grpSpPr>
            <a:xfrm>
              <a:off x="8013776" y="3722847"/>
              <a:ext cx="411129" cy="507881"/>
              <a:chOff x="8013776" y="3722847"/>
              <a:chExt cx="411129" cy="507881"/>
            </a:xfrm>
          </p:grpSpPr>
          <p:cxnSp>
            <p:nvCxnSpPr>
              <p:cNvPr id="56" name="Google Shape;4207;p79"/>
              <p:cNvCxnSpPr/>
              <p:nvPr/>
            </p:nvCxnSpPr>
            <p:spPr>
              <a:xfrm rot="10800000">
                <a:off x="8219339" y="3722847"/>
                <a:ext cx="0" cy="169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57" name="Google Shape;4208;p79"/>
              <p:cNvSpPr/>
              <p:nvPr/>
            </p:nvSpPr>
            <p:spPr>
              <a:xfrm>
                <a:off x="8013776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11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8"/>
          <p:cNvSpPr txBox="1">
            <a:spLocks noGrp="1"/>
          </p:cNvSpPr>
          <p:nvPr>
            <p:ph type="title"/>
          </p:nvPr>
        </p:nvSpPr>
        <p:spPr>
          <a:xfrm>
            <a:off x="390143" y="355209"/>
            <a:ext cx="6293643" cy="557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upon development of Immunotherapy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3" name="Google Shape;1093;p58"/>
          <p:cNvCxnSpPr>
            <a:stCxn id="1094" idx="6"/>
            <a:endCxn id="1095" idx="2"/>
          </p:cNvCxnSpPr>
          <p:nvPr/>
        </p:nvCxnSpPr>
        <p:spPr>
          <a:xfrm>
            <a:off x="1235186" y="2490657"/>
            <a:ext cx="86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58"/>
          <p:cNvCxnSpPr>
            <a:stCxn id="1095" idx="6"/>
            <a:endCxn id="1097" idx="2"/>
          </p:cNvCxnSpPr>
          <p:nvPr/>
        </p:nvCxnSpPr>
        <p:spPr>
          <a:xfrm>
            <a:off x="2375359" y="2490657"/>
            <a:ext cx="866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58"/>
          <p:cNvCxnSpPr>
            <a:stCxn id="1097" idx="6"/>
            <a:endCxn id="1099" idx="2"/>
          </p:cNvCxnSpPr>
          <p:nvPr/>
        </p:nvCxnSpPr>
        <p:spPr>
          <a:xfrm>
            <a:off x="3515489" y="2490657"/>
            <a:ext cx="866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0" name="Google Shape;1100;p58"/>
          <p:cNvSpPr txBox="1"/>
          <p:nvPr/>
        </p:nvSpPr>
        <p:spPr>
          <a:xfrm flipH="1">
            <a:off x="207014" y="295131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18-19</a:t>
            </a:r>
            <a:r>
              <a:rPr lang="en-GB" sz="1600" baseline="300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th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 century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Glory SemiBold"/>
              <a:cs typeface="Times New Roman" panose="02020603050405020304" pitchFamily="18" charset="0"/>
              <a:sym typeface="Glory SemiBold"/>
            </a:endParaRPr>
          </a:p>
        </p:txBody>
      </p:sp>
      <p:sp>
        <p:nvSpPr>
          <p:cNvPr id="1101" name="Google Shape;1101;p58"/>
          <p:cNvSpPr txBox="1"/>
          <p:nvPr/>
        </p:nvSpPr>
        <p:spPr>
          <a:xfrm flipH="1">
            <a:off x="192133" y="3458300"/>
            <a:ext cx="2142726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It was the intial development of cancer immunotherapy where septic wounds were kept open to facilitate development of infection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grpSp>
        <p:nvGrpSpPr>
          <p:cNvPr id="1102" name="Google Shape;1102;p58"/>
          <p:cNvGrpSpPr/>
          <p:nvPr/>
        </p:nvGrpSpPr>
        <p:grpSpPr>
          <a:xfrm>
            <a:off x="961286" y="2353707"/>
            <a:ext cx="273900" cy="273900"/>
            <a:chOff x="1530675" y="3279000"/>
            <a:chExt cx="273900" cy="273900"/>
          </a:xfrm>
        </p:grpSpPr>
        <p:sp>
          <p:nvSpPr>
            <p:cNvPr id="1103" name="Google Shape;1103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04" name="Google Shape;1104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094" name="Google Shape;1094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sp>
        <p:nvSpPr>
          <p:cNvPr id="1106" name="Google Shape;1106;p58"/>
          <p:cNvSpPr txBox="1"/>
          <p:nvPr/>
        </p:nvSpPr>
        <p:spPr>
          <a:xfrm flipH="1">
            <a:off x="2472389" y="301908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Glory SemiBold"/>
              <a:cs typeface="Times New Roman" panose="02020603050405020304" pitchFamily="18" charset="0"/>
              <a:sym typeface="Glory SemiBold"/>
            </a:endParaRPr>
          </a:p>
        </p:txBody>
      </p:sp>
      <p:sp>
        <p:nvSpPr>
          <p:cNvPr id="1107" name="Google Shape;1107;p58"/>
          <p:cNvSpPr txBox="1"/>
          <p:nvPr/>
        </p:nvSpPr>
        <p:spPr>
          <a:xfrm flipH="1">
            <a:off x="2472389" y="3383798"/>
            <a:ext cx="2099606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existence of T cells, crucial components of the immune system, was identified, which later became fundamental to immunotherapy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grpSp>
        <p:nvGrpSpPr>
          <p:cNvPr id="1108" name="Google Shape;1108;p58"/>
          <p:cNvGrpSpPr/>
          <p:nvPr/>
        </p:nvGrpSpPr>
        <p:grpSpPr>
          <a:xfrm>
            <a:off x="3241589" y="2353707"/>
            <a:ext cx="273900" cy="273900"/>
            <a:chOff x="1530675" y="3279000"/>
            <a:chExt cx="273900" cy="273900"/>
          </a:xfrm>
        </p:grpSpPr>
        <p:sp>
          <p:nvSpPr>
            <p:cNvPr id="1109" name="Google Shape;1109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10" name="Google Shape;1110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097" name="Google Shape;1097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sp>
        <p:nvSpPr>
          <p:cNvPr id="1112" name="Google Shape;1112;p58"/>
          <p:cNvSpPr txBox="1"/>
          <p:nvPr/>
        </p:nvSpPr>
        <p:spPr>
          <a:xfrm flipH="1">
            <a:off x="1332259" y="7881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1891</a:t>
            </a:r>
          </a:p>
        </p:txBody>
      </p:sp>
      <p:sp>
        <p:nvSpPr>
          <p:cNvPr id="1113" name="Google Shape;1113;p58"/>
          <p:cNvSpPr txBox="1"/>
          <p:nvPr/>
        </p:nvSpPr>
        <p:spPr>
          <a:xfrm flipH="1">
            <a:off x="1001786" y="1226165"/>
            <a:ext cx="2473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William Coley, began treating cancer patients with a mixture of heat-killed bacteria.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grpSp>
        <p:nvGrpSpPr>
          <p:cNvPr id="1114" name="Google Shape;1114;p58"/>
          <p:cNvGrpSpPr/>
          <p:nvPr/>
        </p:nvGrpSpPr>
        <p:grpSpPr>
          <a:xfrm>
            <a:off x="2101459" y="2353707"/>
            <a:ext cx="273900" cy="273900"/>
            <a:chOff x="1530675" y="3279000"/>
            <a:chExt cx="273900" cy="273900"/>
          </a:xfrm>
        </p:grpSpPr>
        <p:sp>
          <p:nvSpPr>
            <p:cNvPr id="1115" name="Google Shape;1115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16" name="Google Shape;1116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095" name="Google Shape;1095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sp>
        <p:nvSpPr>
          <p:cNvPr id="1118" name="Google Shape;1118;p58"/>
          <p:cNvSpPr txBox="1"/>
          <p:nvPr/>
        </p:nvSpPr>
        <p:spPr>
          <a:xfrm flipH="1">
            <a:off x="3536964" y="699796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Glory SemiBold"/>
              <a:cs typeface="Times New Roman" panose="02020603050405020304" pitchFamily="18" charset="0"/>
              <a:sym typeface="Glory SemiBold"/>
            </a:endParaRPr>
          </a:p>
        </p:txBody>
      </p:sp>
      <p:sp>
        <p:nvSpPr>
          <p:cNvPr id="1119" name="Google Shape;1119;p58"/>
          <p:cNvSpPr txBox="1"/>
          <p:nvPr/>
        </p:nvSpPr>
        <p:spPr>
          <a:xfrm flipH="1">
            <a:off x="3444733" y="1206492"/>
            <a:ext cx="2310518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James and colleagues identified the first T cell antigen receptor.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grpSp>
        <p:nvGrpSpPr>
          <p:cNvPr id="1120" name="Google Shape;1120;p58"/>
          <p:cNvGrpSpPr/>
          <p:nvPr/>
        </p:nvGrpSpPr>
        <p:grpSpPr>
          <a:xfrm>
            <a:off x="4381720" y="2353707"/>
            <a:ext cx="273900" cy="273900"/>
            <a:chOff x="1530675" y="3279000"/>
            <a:chExt cx="273900" cy="273900"/>
          </a:xfrm>
        </p:grpSpPr>
        <p:sp>
          <p:nvSpPr>
            <p:cNvPr id="1121" name="Google Shape;1121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22" name="Google Shape;1122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099" name="Google Shape;1099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sp>
        <p:nvSpPr>
          <p:cNvPr id="1125" name="Google Shape;1125;p58"/>
          <p:cNvSpPr txBox="1"/>
          <p:nvPr/>
        </p:nvSpPr>
        <p:spPr>
          <a:xfrm flipH="1">
            <a:off x="4586764" y="3394021"/>
            <a:ext cx="2349110" cy="162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Ipilimumab became the first checkpoint inhibitor approved by the FDA for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melanoma.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grpSp>
        <p:nvGrpSpPr>
          <p:cNvPr id="1126" name="Google Shape;1126;p58"/>
          <p:cNvGrpSpPr/>
          <p:nvPr/>
        </p:nvGrpSpPr>
        <p:grpSpPr>
          <a:xfrm>
            <a:off x="5521851" y="2353707"/>
            <a:ext cx="273900" cy="273900"/>
            <a:chOff x="1530675" y="3279000"/>
            <a:chExt cx="273900" cy="273900"/>
          </a:xfrm>
        </p:grpSpPr>
        <p:sp>
          <p:nvSpPr>
            <p:cNvPr id="1127" name="Google Shape;1127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28" name="Google Shape;1128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29" name="Google Shape;1129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cxnSp>
        <p:nvCxnSpPr>
          <p:cNvPr id="1130" name="Google Shape;1130;p58"/>
          <p:cNvCxnSpPr>
            <a:stCxn id="1099" idx="6"/>
            <a:endCxn id="1129" idx="2"/>
          </p:cNvCxnSpPr>
          <p:nvPr/>
        </p:nvCxnSpPr>
        <p:spPr>
          <a:xfrm>
            <a:off x="4655620" y="2490657"/>
            <a:ext cx="866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1" name="Google Shape;1131;p58"/>
          <p:cNvCxnSpPr>
            <a:stCxn id="1129" idx="6"/>
            <a:endCxn id="1132" idx="2"/>
          </p:cNvCxnSpPr>
          <p:nvPr/>
        </p:nvCxnSpPr>
        <p:spPr>
          <a:xfrm>
            <a:off x="5795751" y="2490657"/>
            <a:ext cx="866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4" name="Google Shape;1134;p58"/>
          <p:cNvGrpSpPr/>
          <p:nvPr/>
        </p:nvGrpSpPr>
        <p:grpSpPr>
          <a:xfrm>
            <a:off x="6661982" y="2353707"/>
            <a:ext cx="273900" cy="273900"/>
            <a:chOff x="1530675" y="3279000"/>
            <a:chExt cx="273900" cy="273900"/>
          </a:xfrm>
        </p:grpSpPr>
        <p:sp>
          <p:nvSpPr>
            <p:cNvPr id="1135" name="Google Shape;1135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36" name="Google Shape;1136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1132" name="Google Shape;1132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cxnSp>
        <p:nvCxnSpPr>
          <p:cNvPr id="1139" name="Google Shape;1139;p58"/>
          <p:cNvCxnSpPr>
            <a:stCxn id="1132" idx="0"/>
          </p:cNvCxnSpPr>
          <p:nvPr/>
        </p:nvCxnSpPr>
        <p:spPr>
          <a:xfrm flipV="1">
            <a:off x="6798932" y="2033081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" name="Google Shape;1126;p58"/>
          <p:cNvGrpSpPr/>
          <p:nvPr/>
        </p:nvGrpSpPr>
        <p:grpSpPr>
          <a:xfrm>
            <a:off x="7665032" y="2353707"/>
            <a:ext cx="273900" cy="273900"/>
            <a:chOff x="1530675" y="3279000"/>
            <a:chExt cx="273900" cy="273900"/>
          </a:xfrm>
        </p:grpSpPr>
        <p:sp>
          <p:nvSpPr>
            <p:cNvPr id="53" name="Google Shape;1127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54" name="Google Shape;1128;p58"/>
            <p:cNvSpPr/>
            <p:nvPr/>
          </p:nvSpPr>
          <p:spPr>
            <a:xfrm>
              <a:off x="1571175" y="3319500"/>
              <a:ext cx="192900" cy="19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  <p:sp>
          <p:nvSpPr>
            <p:cNvPr id="55" name="Google Shape;1129;p58"/>
            <p:cNvSpPr/>
            <p:nvPr/>
          </p:nvSpPr>
          <p:spPr>
            <a:xfrm>
              <a:off x="1530675" y="3279000"/>
              <a:ext cx="273900" cy="273900"/>
            </a:xfrm>
            <a:prstGeom prst="ellipse">
              <a:avLst/>
            </a:prstGeom>
            <a:solidFill>
              <a:srgbClr val="00FCFE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endParaRPr>
            </a:p>
          </p:txBody>
        </p:sp>
      </p:grpSp>
      <p:cxnSp>
        <p:nvCxnSpPr>
          <p:cNvPr id="56" name="Google Shape;1130;p58"/>
          <p:cNvCxnSpPr>
            <a:endCxn id="55" idx="2"/>
          </p:cNvCxnSpPr>
          <p:nvPr/>
        </p:nvCxnSpPr>
        <p:spPr>
          <a:xfrm>
            <a:off x="6798801" y="2490657"/>
            <a:ext cx="866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0" name="Google Shape;1112;p58"/>
          <p:cNvSpPr txBox="1"/>
          <p:nvPr/>
        </p:nvSpPr>
        <p:spPr>
          <a:xfrm flipH="1">
            <a:off x="2487276" y="296081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1967</a:t>
            </a:r>
          </a:p>
        </p:txBody>
      </p:sp>
      <p:sp>
        <p:nvSpPr>
          <p:cNvPr id="1143" name="Google Shape;1112;p58"/>
          <p:cNvSpPr txBox="1"/>
          <p:nvPr/>
        </p:nvSpPr>
        <p:spPr>
          <a:xfrm flipH="1">
            <a:off x="3592019" y="79956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1982</a:t>
            </a:r>
          </a:p>
        </p:txBody>
      </p:sp>
      <p:sp>
        <p:nvSpPr>
          <p:cNvPr id="1149" name="Google Shape;1112;p58"/>
          <p:cNvSpPr txBox="1"/>
          <p:nvPr/>
        </p:nvSpPr>
        <p:spPr>
          <a:xfrm flipH="1">
            <a:off x="4767538" y="291614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2011</a:t>
            </a:r>
          </a:p>
        </p:txBody>
      </p:sp>
      <p:sp>
        <p:nvSpPr>
          <p:cNvPr id="1153" name="Google Shape;1119;p58"/>
          <p:cNvSpPr txBox="1"/>
          <p:nvPr/>
        </p:nvSpPr>
        <p:spPr>
          <a:xfrm flipH="1">
            <a:off x="5586354" y="1165602"/>
            <a:ext cx="2535173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FDA approved pembrolizumab for various cancers based on genetic testing rather than tissue type.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sp>
        <p:nvSpPr>
          <p:cNvPr id="1154" name="Google Shape;1112;p58"/>
          <p:cNvSpPr txBox="1"/>
          <p:nvPr/>
        </p:nvSpPr>
        <p:spPr>
          <a:xfrm flipH="1">
            <a:off x="5810306" y="748927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2017</a:t>
            </a:r>
          </a:p>
        </p:txBody>
      </p:sp>
      <p:cxnSp>
        <p:nvCxnSpPr>
          <p:cNvPr id="1157" name="Google Shape;1139;p58"/>
          <p:cNvCxnSpPr/>
          <p:nvPr/>
        </p:nvCxnSpPr>
        <p:spPr>
          <a:xfrm flipV="1">
            <a:off x="4529892" y="2033081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139;p58"/>
          <p:cNvCxnSpPr/>
          <p:nvPr/>
        </p:nvCxnSpPr>
        <p:spPr>
          <a:xfrm flipV="1">
            <a:off x="2238386" y="2073581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139;p58"/>
          <p:cNvCxnSpPr/>
          <p:nvPr/>
        </p:nvCxnSpPr>
        <p:spPr>
          <a:xfrm flipV="1">
            <a:off x="1098236" y="2627607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39;p58"/>
          <p:cNvCxnSpPr/>
          <p:nvPr/>
        </p:nvCxnSpPr>
        <p:spPr>
          <a:xfrm flipV="1">
            <a:off x="3374594" y="2595514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39;p58"/>
          <p:cNvCxnSpPr/>
          <p:nvPr/>
        </p:nvCxnSpPr>
        <p:spPr>
          <a:xfrm flipV="1">
            <a:off x="5650288" y="2627607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2" name="Google Shape;1139;p58"/>
          <p:cNvCxnSpPr/>
          <p:nvPr/>
        </p:nvCxnSpPr>
        <p:spPr>
          <a:xfrm flipV="1">
            <a:off x="7801982" y="2629035"/>
            <a:ext cx="0" cy="3206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3" name="Google Shape;1125;p58"/>
          <p:cNvSpPr txBox="1"/>
          <p:nvPr/>
        </p:nvSpPr>
        <p:spPr>
          <a:xfrm flipH="1">
            <a:off x="6683247" y="3237665"/>
            <a:ext cx="2349110" cy="162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James Allison and Tasuku Honjo received the Nobel Prize for their work on immune checkpoint inhibitors.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sp>
        <p:nvSpPr>
          <p:cNvPr id="1164" name="Google Shape;1112;p58"/>
          <p:cNvSpPr txBox="1"/>
          <p:nvPr/>
        </p:nvSpPr>
        <p:spPr>
          <a:xfrm flipH="1">
            <a:off x="6932500" y="274750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Glory SemiBold"/>
                <a:cs typeface="Times New Roman" panose="02020603050405020304" pitchFamily="18" charset="0"/>
                <a:sym typeface="Glory SemiBold"/>
              </a:rPr>
              <a:t>2018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7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67439" y="449418"/>
            <a:ext cx="1527000" cy="424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71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8238561" y="650437"/>
            <a:ext cx="184089" cy="384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7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814775" y="965638"/>
            <a:ext cx="897618" cy="9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7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746605" y="965638"/>
            <a:ext cx="957459" cy="9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7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725954" y="965639"/>
            <a:ext cx="897625" cy="897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7;p63"/>
          <p:cNvSpPr txBox="1"/>
          <p:nvPr/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GB" dirty="0"/>
          </a:p>
        </p:txBody>
      </p:sp>
      <p:sp>
        <p:nvSpPr>
          <p:cNvPr id="8" name="Google Shape;1236;p63"/>
          <p:cNvSpPr txBox="1">
            <a:spLocks noGrp="1"/>
          </p:cNvSpPr>
          <p:nvPr>
            <p:ph type="title"/>
          </p:nvPr>
        </p:nvSpPr>
        <p:spPr>
          <a:xfrm>
            <a:off x="865625" y="3382160"/>
            <a:ext cx="530256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5400" dirty="0"/>
              <a:t>Statistics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9" name="Google Shape;1237;p63"/>
          <p:cNvSpPr txBox="1"/>
          <p:nvPr/>
        </p:nvSpPr>
        <p:spPr>
          <a:xfrm>
            <a:off x="865625" y="207795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7200" b="1" dirty="0">
                <a:solidFill>
                  <a:schemeClr val="accent1">
                    <a:lumMod val="75000"/>
                  </a:schemeClr>
                </a:solidFill>
              </a:rPr>
              <a:t>04</a:t>
            </a:r>
          </a:p>
        </p:txBody>
      </p:sp>
      <p:grpSp>
        <p:nvGrpSpPr>
          <p:cNvPr id="10" name="Google Shape;5174;p82"/>
          <p:cNvGrpSpPr/>
          <p:nvPr/>
        </p:nvGrpSpPr>
        <p:grpSpPr>
          <a:xfrm>
            <a:off x="4605014" y="1088694"/>
            <a:ext cx="1430711" cy="751237"/>
            <a:chOff x="5159450" y="1919950"/>
            <a:chExt cx="1541050" cy="862500"/>
          </a:xfrm>
        </p:grpSpPr>
        <p:sp>
          <p:nvSpPr>
            <p:cNvPr id="11" name="Google Shape;5175;p82"/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</p:sp>
        <p:grpSp>
          <p:nvGrpSpPr>
            <p:cNvPr id="12" name="Google Shape;5176;p82"/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13" name="Google Shape;5177;p82"/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5178;p82"/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13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1"/>
          <p:cNvSpPr txBox="1">
            <a:spLocks noGrp="1"/>
          </p:cNvSpPr>
          <p:nvPr>
            <p:ph type="title"/>
          </p:nvPr>
        </p:nvSpPr>
        <p:spPr>
          <a:xfrm>
            <a:off x="1284000" y="1728450"/>
            <a:ext cx="65760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3,95,400</a:t>
            </a:r>
            <a:endParaRPr dirty="0"/>
          </a:p>
        </p:txBody>
      </p:sp>
      <p:sp>
        <p:nvSpPr>
          <p:cNvPr id="993" name="Google Shape;993;p51"/>
          <p:cNvSpPr txBox="1">
            <a:spLocks noGrp="1"/>
          </p:cNvSpPr>
          <p:nvPr>
            <p:ph type="subTitle" idx="1"/>
          </p:nvPr>
        </p:nvSpPr>
        <p:spPr>
          <a:xfrm>
            <a:off x="1284000" y="27736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3,95,400 deaths due to cancer were reported in India</a:t>
            </a:r>
            <a:endParaRPr dirty="0"/>
          </a:p>
        </p:txBody>
      </p:sp>
      <p:cxnSp>
        <p:nvCxnSpPr>
          <p:cNvPr id="994" name="Google Shape;994;p51"/>
          <p:cNvCxnSpPr>
            <a:stCxn id="992" idx="0"/>
          </p:cNvCxnSpPr>
          <p:nvPr/>
        </p:nvCxnSpPr>
        <p:spPr>
          <a:xfrm rot="10800000">
            <a:off x="4572000" y="198150"/>
            <a:ext cx="0" cy="153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" name="Google Shape;993;p51"/>
          <p:cNvSpPr txBox="1"/>
          <p:nvPr/>
        </p:nvSpPr>
        <p:spPr>
          <a:xfrm>
            <a:off x="4417996" y="4315950"/>
            <a:ext cx="4726004" cy="24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US" sz="1100" dirty="0">
                <a:solidFill>
                  <a:srgbClr val="7030A0"/>
                </a:solidFill>
              </a:rPr>
              <a:t>Source:  </a:t>
            </a:r>
            <a:r>
              <a:rPr lang="en-US" sz="1100" dirty="0">
                <a:solidFill>
                  <a:srgbClr val="7030A0"/>
                </a:solidFill>
                <a:hlinkClick r:id="rId3"/>
              </a:rPr>
              <a:t>Statistics – ICMR – National Institute of Cancer Prevention and Research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3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14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52"/>
          <p:cNvCxnSpPr/>
          <p:nvPr/>
        </p:nvCxnSpPr>
        <p:spPr>
          <a:xfrm rot="10800000">
            <a:off x="4572000" y="199312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06" name="Google Shape;1006;p52"/>
          <p:cNvCxnSpPr/>
          <p:nvPr/>
        </p:nvCxnSpPr>
        <p:spPr>
          <a:xfrm>
            <a:off x="4572000" y="4525097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15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909" y="674548"/>
            <a:ext cx="5175089" cy="37944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4919" y="4525097"/>
            <a:ext cx="3210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solidFill>
                  <a:srgbClr val="7030A0"/>
                </a:solidFill>
              </a:rPr>
              <a:t>Source:</a:t>
            </a:r>
            <a:r>
              <a:rPr lang="en-US" sz="1050" dirty="0" err="1">
                <a:solidFill>
                  <a:srgbClr val="7030A0"/>
                </a:solidFill>
                <a:hlinkClick r:id="rId4"/>
              </a:rPr>
              <a:t>https</a:t>
            </a:r>
            <a:r>
              <a:rPr lang="en-US" sz="1050" dirty="0">
                <a:solidFill>
                  <a:srgbClr val="7030A0"/>
                </a:solidFill>
                <a:hlinkClick r:id="rId4"/>
              </a:rPr>
              <a:t>://saphaltaincancercare.com/services/immunotherapy-cost-in-</a:t>
            </a:r>
            <a:r>
              <a:rPr lang="en-US" sz="1050" dirty="0" err="1">
                <a:solidFill>
                  <a:srgbClr val="7030A0"/>
                </a:solidFill>
                <a:hlinkClick r:id="rId4"/>
              </a:rPr>
              <a:t>india</a:t>
            </a:r>
            <a:r>
              <a:rPr lang="en-US" sz="1050" dirty="0">
                <a:solidFill>
                  <a:srgbClr val="7030A0"/>
                </a:solidFill>
                <a:hlinkClick r:id="rId4"/>
              </a:rPr>
              <a:t>/</a:t>
            </a:r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3"/>
          <p:cNvSpPr/>
          <p:nvPr/>
        </p:nvSpPr>
        <p:spPr>
          <a:xfrm>
            <a:off x="1322650" y="1530260"/>
            <a:ext cx="1252500" cy="1252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2" name="Google Shape;1012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use some percentages</a:t>
            </a:r>
          </a:p>
        </p:txBody>
      </p:sp>
      <p:sp>
        <p:nvSpPr>
          <p:cNvPr id="1013" name="Google Shape;1013;p53"/>
          <p:cNvSpPr/>
          <p:nvPr/>
        </p:nvSpPr>
        <p:spPr>
          <a:xfrm>
            <a:off x="1383550" y="1591051"/>
            <a:ext cx="1130700" cy="1130700"/>
          </a:xfrm>
          <a:prstGeom prst="donut">
            <a:avLst>
              <a:gd name="adj" fmla="val 370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53"/>
          <p:cNvSpPr/>
          <p:nvPr/>
        </p:nvSpPr>
        <p:spPr>
          <a:xfrm flipH="1">
            <a:off x="1261900" y="1469575"/>
            <a:ext cx="1374000" cy="1374000"/>
          </a:xfrm>
          <a:prstGeom prst="blockArc">
            <a:avLst>
              <a:gd name="adj1" fmla="val 10798115"/>
              <a:gd name="adj2" fmla="val 16227767"/>
              <a:gd name="adj3" fmla="val 15359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53"/>
          <p:cNvSpPr txBox="1"/>
          <p:nvPr/>
        </p:nvSpPr>
        <p:spPr>
          <a:xfrm>
            <a:off x="862300" y="3629175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The CAGR of Immuno-oncology us 10.64%</a:t>
            </a:r>
            <a:endParaRPr sz="1200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6" name="Google Shape;1016;p53"/>
          <p:cNvSpPr txBox="1"/>
          <p:nvPr/>
        </p:nvSpPr>
        <p:spPr>
          <a:xfrm>
            <a:off x="862300" y="3132150"/>
            <a:ext cx="217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Market-CAGR</a:t>
            </a:r>
            <a:endParaRPr sz="20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017" name="Google Shape;1017;p53"/>
          <p:cNvSpPr txBox="1"/>
          <p:nvPr/>
        </p:nvSpPr>
        <p:spPr>
          <a:xfrm>
            <a:off x="3485400" y="3629175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TIL therapy have shown about 50% clinical efficacy in melanoma.</a:t>
            </a:r>
            <a:endParaRPr sz="1200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8" name="Google Shape;1018;p53"/>
          <p:cNvSpPr txBox="1"/>
          <p:nvPr/>
        </p:nvSpPr>
        <p:spPr>
          <a:xfrm>
            <a:off x="3260450" y="3132150"/>
            <a:ext cx="2623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Tumor Infiltaring Lymphocytes</a:t>
            </a:r>
            <a:endParaRPr sz="16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019" name="Google Shape;1019;p53"/>
          <p:cNvSpPr txBox="1"/>
          <p:nvPr/>
        </p:nvSpPr>
        <p:spPr>
          <a:xfrm>
            <a:off x="6108500" y="3629175"/>
            <a:ext cx="21732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Success rate of CAR T-Cell in 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certain hematological malignancies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</p:txBody>
      </p:sp>
      <p:sp>
        <p:nvSpPr>
          <p:cNvPr id="1020" name="Google Shape;1020;p53"/>
          <p:cNvSpPr txBox="1"/>
          <p:nvPr/>
        </p:nvSpPr>
        <p:spPr>
          <a:xfrm>
            <a:off x="6108500" y="3132150"/>
            <a:ext cx="21732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CAR T-Cell</a:t>
            </a:r>
            <a:endParaRPr sz="20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021" name="Google Shape;1021;p53"/>
          <p:cNvSpPr txBox="1"/>
          <p:nvPr/>
        </p:nvSpPr>
        <p:spPr>
          <a:xfrm>
            <a:off x="1495000" y="1985461"/>
            <a:ext cx="9078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10.6%</a:t>
            </a:r>
            <a:endParaRPr sz="20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022" name="Google Shape;1022;p53"/>
          <p:cNvSpPr/>
          <p:nvPr/>
        </p:nvSpPr>
        <p:spPr>
          <a:xfrm>
            <a:off x="3945750" y="1564606"/>
            <a:ext cx="1252500" cy="1252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3" name="Google Shape;1023;p53"/>
          <p:cNvSpPr/>
          <p:nvPr/>
        </p:nvSpPr>
        <p:spPr>
          <a:xfrm>
            <a:off x="4006650" y="1625397"/>
            <a:ext cx="1130700" cy="1130700"/>
          </a:xfrm>
          <a:prstGeom prst="donut">
            <a:avLst>
              <a:gd name="adj" fmla="val 46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53"/>
          <p:cNvSpPr/>
          <p:nvPr/>
        </p:nvSpPr>
        <p:spPr>
          <a:xfrm flipH="1">
            <a:off x="3885000" y="1503921"/>
            <a:ext cx="1374000" cy="1374000"/>
          </a:xfrm>
          <a:prstGeom prst="blockArc">
            <a:avLst>
              <a:gd name="adj1" fmla="val 5465100"/>
              <a:gd name="adj2" fmla="val 16227767"/>
              <a:gd name="adj3" fmla="val 15359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53"/>
          <p:cNvSpPr txBox="1"/>
          <p:nvPr/>
        </p:nvSpPr>
        <p:spPr>
          <a:xfrm>
            <a:off x="4118100" y="1985461"/>
            <a:ext cx="9078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50%</a:t>
            </a:r>
            <a:endParaRPr sz="25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1026" name="Google Shape;1026;p53"/>
          <p:cNvSpPr/>
          <p:nvPr/>
        </p:nvSpPr>
        <p:spPr>
          <a:xfrm>
            <a:off x="6568850" y="1530260"/>
            <a:ext cx="1252500" cy="1252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6629750" y="1591051"/>
            <a:ext cx="1130700" cy="1130700"/>
          </a:xfrm>
          <a:prstGeom prst="donut">
            <a:avLst>
              <a:gd name="adj" fmla="val 491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53"/>
          <p:cNvSpPr/>
          <p:nvPr/>
        </p:nvSpPr>
        <p:spPr>
          <a:xfrm flipH="1">
            <a:off x="6508100" y="1469575"/>
            <a:ext cx="1374000" cy="1374000"/>
          </a:xfrm>
          <a:prstGeom prst="blockArc">
            <a:avLst>
              <a:gd name="adj1" fmla="val 21549860"/>
              <a:gd name="adj2" fmla="val 16227767"/>
              <a:gd name="adj3" fmla="val 15359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53"/>
          <p:cNvSpPr txBox="1"/>
          <p:nvPr/>
        </p:nvSpPr>
        <p:spPr>
          <a:xfrm>
            <a:off x="6741200" y="1985461"/>
            <a:ext cx="9078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solidFill>
                  <a:schemeClr val="dk1"/>
                </a:solidFill>
                <a:latin typeface="Glory SemiBold"/>
                <a:ea typeface="Glory SemiBold"/>
                <a:cs typeface="Glory SemiBold"/>
                <a:sym typeface="Glory SemiBold"/>
              </a:rPr>
              <a:t>75%</a:t>
            </a:r>
            <a:endParaRPr sz="2500" dirty="0">
              <a:solidFill>
                <a:schemeClr val="dk1"/>
              </a:solidFill>
              <a:latin typeface="Glory SemiBold"/>
              <a:ea typeface="Glory SemiBold"/>
              <a:cs typeface="Glory SemiBold"/>
              <a:sym typeface="Glory SemiBold"/>
            </a:endParaRPr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16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1923" y="4510875"/>
            <a:ext cx="2889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Courtesy: National Library Of medicine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52"/>
          <p:cNvCxnSpPr/>
          <p:nvPr/>
        </p:nvCxnSpPr>
        <p:spPr>
          <a:xfrm rot="10800000">
            <a:off x="4572000" y="199312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06" name="Google Shape;1006;p52"/>
          <p:cNvCxnSpPr/>
          <p:nvPr/>
        </p:nvCxnSpPr>
        <p:spPr>
          <a:xfrm>
            <a:off x="4572000" y="4525097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17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24919" y="4525097"/>
            <a:ext cx="3210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7030A0"/>
                </a:solidFill>
              </a:rPr>
              <a:t>Source: https://mohfw.gov.in/?q=hi/node/7911</a:t>
            </a:r>
          </a:p>
          <a:p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76" y="1022752"/>
            <a:ext cx="7387504" cy="28491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52"/>
          <p:cNvCxnSpPr/>
          <p:nvPr/>
        </p:nvCxnSpPr>
        <p:spPr>
          <a:xfrm rot="10800000">
            <a:off x="4572000" y="199312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06" name="Google Shape;1006;p52"/>
          <p:cNvCxnSpPr/>
          <p:nvPr/>
        </p:nvCxnSpPr>
        <p:spPr>
          <a:xfrm>
            <a:off x="4572000" y="4525097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18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1999" y="4191924"/>
            <a:ext cx="346304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7030A0"/>
                </a:solidFill>
              </a:rPr>
              <a:t>Source: https://www.esmo.org/newsroom/press-and-media-hub/esmo-media-releases/studies-show-immunotherapy-improves-long-term-survival-in-growing-number-of-cancers</a:t>
            </a:r>
          </a:p>
          <a:p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  <a:p>
            <a:endParaRPr lang="en-US" sz="1050" dirty="0">
              <a:solidFill>
                <a:srgbClr val="7030A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44752" y="1297097"/>
            <a:ext cx="8054495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4283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study presented at ESMO 2024 reported that patients with early-stage triple-negative breast cancer receiving immunotherapy plus chemotherapy had a five-year overall survival rate of 86.6%/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trials involving locally advanced colorectal cancer, 82% of patients treated with pembrolizumab(checkpoint inhibitor) showed significant tumor shrinkage, with over half achieving no evidence of cancer post-surgery.</a:t>
            </a:r>
          </a:p>
          <a:p>
            <a:pPr algn="l"/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remains the most prevalent cancer among women globally, with approximately 670,000 deaths due to breast cancer reported in 2022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7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67439" y="449418"/>
            <a:ext cx="1527000" cy="424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71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8238561" y="650437"/>
            <a:ext cx="184089" cy="38426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7;p63"/>
          <p:cNvSpPr txBox="1"/>
          <p:nvPr/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GB" dirty="0"/>
          </a:p>
        </p:txBody>
      </p:sp>
      <p:sp>
        <p:nvSpPr>
          <p:cNvPr id="8" name="Google Shape;1236;p63"/>
          <p:cNvSpPr txBox="1">
            <a:spLocks noGrp="1"/>
          </p:cNvSpPr>
          <p:nvPr>
            <p:ph type="title"/>
          </p:nvPr>
        </p:nvSpPr>
        <p:spPr>
          <a:xfrm>
            <a:off x="865625" y="3170322"/>
            <a:ext cx="530256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5400" dirty="0"/>
              <a:t>Conclusion</a:t>
            </a:r>
          </a:p>
        </p:txBody>
      </p:sp>
      <p:sp>
        <p:nvSpPr>
          <p:cNvPr id="9" name="Google Shape;1237;p63"/>
          <p:cNvSpPr txBox="1"/>
          <p:nvPr/>
        </p:nvSpPr>
        <p:spPr>
          <a:xfrm>
            <a:off x="865625" y="207795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7200" b="1" dirty="0">
                <a:solidFill>
                  <a:schemeClr val="accent1">
                    <a:lumMod val="75000"/>
                  </a:schemeClr>
                </a:solidFill>
              </a:rPr>
              <a:t>05</a:t>
            </a:r>
          </a:p>
        </p:txBody>
      </p:sp>
      <p:grpSp>
        <p:nvGrpSpPr>
          <p:cNvPr id="2" name="Google Shape;4827;p81"/>
          <p:cNvGrpSpPr/>
          <p:nvPr/>
        </p:nvGrpSpPr>
        <p:grpSpPr>
          <a:xfrm>
            <a:off x="4360244" y="1045073"/>
            <a:ext cx="1631811" cy="928106"/>
            <a:chOff x="238125" y="1188750"/>
            <a:chExt cx="7140450" cy="3335550"/>
          </a:xfrm>
        </p:grpSpPr>
        <p:sp>
          <p:nvSpPr>
            <p:cNvPr id="3" name="Google Shape;4828;p81"/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29;p81"/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830;p81"/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831;p81"/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832;p81"/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19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52"/>
          <p:cNvCxnSpPr/>
          <p:nvPr/>
        </p:nvCxnSpPr>
        <p:spPr>
          <a:xfrm rot="10800000">
            <a:off x="4572000" y="199312"/>
            <a:ext cx="0" cy="41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06" name="Google Shape;1006;p52"/>
          <p:cNvCxnSpPr/>
          <p:nvPr/>
        </p:nvCxnSpPr>
        <p:spPr>
          <a:xfrm>
            <a:off x="4572000" y="4525097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20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00089" y="869720"/>
            <a:ext cx="8054495" cy="307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4283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0" i="0" dirty="0">
              <a:solidFill>
                <a:srgbClr val="F8FA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Impact</a:t>
            </a:r>
            <a:r>
              <a:rPr lang="en-US" sz="16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Immunotherapy boosts the immune system to target cancer precisely, offering durable responses (e.g., 75% tumor reduction in advanced CSCC cases).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Superiority</a:t>
            </a:r>
            <a:r>
              <a:rPr lang="en-US" sz="16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Outperforms traditional treatments with fewer side effects and higher survival rates (e.g., 86.6% 5-year survival in breast cancer trials).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Relevance</a:t>
            </a:r>
            <a:r>
              <a:rPr lang="en-US" sz="16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Critical for cancers resistant to chemotherapy/radiation (evident in melanoma, hematological malignancies).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sz="16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 costs and accessibility gaps in regions like India (3.95 lakh annual cancer deaths).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0"/>
          <p:cNvSpPr/>
          <p:nvPr/>
        </p:nvSpPr>
        <p:spPr>
          <a:xfrm>
            <a:off x="5150675" y="539500"/>
            <a:ext cx="3280200" cy="4064700"/>
          </a:xfrm>
          <a:prstGeom prst="roundRect">
            <a:avLst>
              <a:gd name="adj" fmla="val 539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08" name="Google Shape;808;p40"/>
          <p:cNvSpPr txBox="1">
            <a:spLocks noGrp="1"/>
          </p:cNvSpPr>
          <p:nvPr>
            <p:ph type="title"/>
          </p:nvPr>
        </p:nvSpPr>
        <p:spPr>
          <a:xfrm>
            <a:off x="712825" y="2563929"/>
            <a:ext cx="5014761" cy="2016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Bibliography </a:t>
            </a:r>
            <a:endParaRPr sz="4400" dirty="0"/>
          </a:p>
        </p:txBody>
      </p:sp>
      <p:sp>
        <p:nvSpPr>
          <p:cNvPr id="809" name="Google Shape;809;p40"/>
          <p:cNvSpPr txBox="1">
            <a:spLocks noGrp="1"/>
          </p:cNvSpPr>
          <p:nvPr>
            <p:ph type="title" idx="2"/>
          </p:nvPr>
        </p:nvSpPr>
        <p:spPr>
          <a:xfrm>
            <a:off x="713225" y="16896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06</a:t>
            </a:r>
            <a:endParaRPr dirty="0"/>
          </a:p>
        </p:txBody>
      </p:sp>
      <p:pic>
        <p:nvPicPr>
          <p:cNvPr id="810" name="Google Shape;810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59337" y="1797787"/>
            <a:ext cx="1862877" cy="236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4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752863" y="932154"/>
            <a:ext cx="451715" cy="45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0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7376972" y="932158"/>
            <a:ext cx="451715" cy="45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4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564916" y="905075"/>
            <a:ext cx="451717" cy="5058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4" name="Google Shape;814;p40"/>
          <p:cNvCxnSpPr>
            <a:stCxn id="811" idx="2"/>
            <a:endCxn id="810" idx="0"/>
          </p:cNvCxnSpPr>
          <p:nvPr/>
        </p:nvCxnSpPr>
        <p:spPr>
          <a:xfrm rot="-5400000" flipH="1">
            <a:off x="6177770" y="1184819"/>
            <a:ext cx="414000" cy="8121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5" name="Google Shape;815;p40"/>
          <p:cNvCxnSpPr>
            <a:stCxn id="812" idx="2"/>
            <a:endCxn id="810" idx="0"/>
          </p:cNvCxnSpPr>
          <p:nvPr/>
        </p:nvCxnSpPr>
        <p:spPr>
          <a:xfrm rot="5400000">
            <a:off x="6989780" y="1184823"/>
            <a:ext cx="414000" cy="8121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6" name="Google Shape;816;p40"/>
          <p:cNvCxnSpPr>
            <a:stCxn id="813" idx="2"/>
            <a:endCxn id="810" idx="0"/>
          </p:cNvCxnSpPr>
          <p:nvPr/>
        </p:nvCxnSpPr>
        <p:spPr>
          <a:xfrm rot="-5400000" flipH="1">
            <a:off x="6597725" y="1604002"/>
            <a:ext cx="386700" cy="6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17" name="Google Shape;817;p40"/>
          <p:cNvSpPr/>
          <p:nvPr/>
        </p:nvSpPr>
        <p:spPr>
          <a:xfrm rot="10800000">
            <a:off x="5150975" y="4166225"/>
            <a:ext cx="3280200" cy="451800"/>
          </a:xfrm>
          <a:prstGeom prst="round2SameRect">
            <a:avLst>
              <a:gd name="adj1" fmla="val 30727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" name="Google Shape;785;p38"/>
          <p:cNvSpPr txBox="1"/>
          <p:nvPr/>
        </p:nvSpPr>
        <p:spPr>
          <a:xfrm>
            <a:off x="7828687" y="4474830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21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1"/>
          <p:cNvSpPr txBox="1">
            <a:spLocks noGrp="1"/>
          </p:cNvSpPr>
          <p:nvPr>
            <p:ph type="title"/>
          </p:nvPr>
        </p:nvSpPr>
        <p:spPr>
          <a:xfrm>
            <a:off x="787377" y="5772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Bibliography</a:t>
            </a:r>
            <a:endParaRPr dirty="0"/>
          </a:p>
        </p:txBody>
      </p:sp>
      <p:sp>
        <p:nvSpPr>
          <p:cNvPr id="824" name="Google Shape;824;p41"/>
          <p:cNvSpPr txBox="1">
            <a:spLocks noGrp="1"/>
          </p:cNvSpPr>
          <p:nvPr>
            <p:ph type="subTitle" idx="2"/>
          </p:nvPr>
        </p:nvSpPr>
        <p:spPr>
          <a:xfrm>
            <a:off x="552480" y="1335433"/>
            <a:ext cx="8039039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Research paper: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Ghosh, S., Patil, P. D., &amp;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Kitture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D. (2019). Physically responsive nanostructures in breast cancer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theranostics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IOP Publishing eBooks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(pp. 2–24).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https://doi.org/10.1088/2053-2563/ab2907ch2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Citations: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en-US" dirty="0">
                <a:hlinkClick r:id="rId4"/>
              </a:rPr>
              <a:t>https://www.frontiersin.org/journals/immunology/articles/10.3389/fimmu.2022.900119/full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[2] </a:t>
            </a:r>
            <a:r>
              <a:rPr lang="en-US" dirty="0">
                <a:hlinkClick r:id="rId5"/>
              </a:rPr>
              <a:t>https://pmc.ncbi.nlm.nih.gov/articles/PMC9454552/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[3] </a:t>
            </a:r>
            <a:r>
              <a:rPr lang="en-US" dirty="0">
                <a:hlinkClick r:id="rId6"/>
              </a:rPr>
              <a:t>https://www.personalizedmedonc.com/all-articles/657:case-studies-in-immunotherapy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[4] </a:t>
            </a:r>
            <a:r>
              <a:rPr lang="en-US" dirty="0">
                <a:hlinkClick r:id="rId7"/>
              </a:rPr>
              <a:t>https://www.cancerresearchuk.org/about-cancer/treatment/immunotherapy/what-is-immunotherapy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[5] </a:t>
            </a:r>
            <a:r>
              <a:rPr lang="en-US" dirty="0">
                <a:hlinkClick r:id="rId8"/>
              </a:rPr>
              <a:t>https://pmc.ncbi.nlm.nih.gov/articles/PMC6928196/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[6] </a:t>
            </a:r>
            <a:r>
              <a:rPr lang="en-US" dirty="0">
                <a:hlinkClick r:id="rId9"/>
              </a:rPr>
              <a:t>https://www.cancer.org/cancer/managing-cancer/treatment-types/immunotherapy.html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[7] </a:t>
            </a:r>
            <a:r>
              <a:rPr lang="en-US" dirty="0">
                <a:hlinkClick r:id="rId10"/>
              </a:rPr>
              <a:t>https://irepertoire.com/news-events/treatment-monitoring-case-study/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[8] </a:t>
            </a:r>
            <a:r>
              <a:rPr lang="en-US" dirty="0">
                <a:hlinkClick r:id="rId11"/>
              </a:rPr>
              <a:t>https://www.cancerresearch.org/what-is-immunotherapy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[9] </a:t>
            </a:r>
            <a:r>
              <a:rPr lang="en-US" dirty="0">
                <a:hlinkClick r:id="rId12"/>
              </a:rPr>
              <a:t>https://www.immunopaedia.org.za/clinical-cases/immunotherapy/keep-up-while-the-storm-is-raging/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[10] </a:t>
            </a:r>
            <a:r>
              <a:rPr lang="en-US" dirty="0">
                <a:hlinkClick r:id="rId13"/>
              </a:rPr>
              <a:t>https://my.clevelandclinic.org/health/treatments/11582-immunotherapy</a:t>
            </a:r>
            <a:endParaRPr lang="en-US" dirty="0"/>
          </a:p>
          <a:p>
            <a:pPr marL="0" indent="0"/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22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1"/>
          <p:cNvSpPr txBox="1">
            <a:spLocks noGrp="1"/>
          </p:cNvSpPr>
          <p:nvPr>
            <p:ph type="title"/>
          </p:nvPr>
        </p:nvSpPr>
        <p:spPr>
          <a:xfrm>
            <a:off x="787377" y="5772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Bibliography</a:t>
            </a:r>
            <a:endParaRPr dirty="0"/>
          </a:p>
        </p:txBody>
      </p:sp>
      <p:sp>
        <p:nvSpPr>
          <p:cNvPr id="824" name="Google Shape;824;p41"/>
          <p:cNvSpPr txBox="1">
            <a:spLocks noGrp="1"/>
          </p:cNvSpPr>
          <p:nvPr>
            <p:ph type="subTitle" idx="2"/>
          </p:nvPr>
        </p:nvSpPr>
        <p:spPr>
          <a:xfrm>
            <a:off x="562208" y="1345161"/>
            <a:ext cx="8039039" cy="17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fr-FR" dirty="0"/>
              <a:t>Citations: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 </a:t>
            </a:r>
            <a:r>
              <a:rPr lang="fr-FR" dirty="0">
                <a:hlinkClick r:id="rId3"/>
              </a:rPr>
              <a:t>https://pmc.ncbi.nlm.nih.gov/articles/PMC9967630/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[2] </a:t>
            </a:r>
            <a:r>
              <a:rPr lang="fr-FR" dirty="0">
                <a:hlinkClick r:id="rId4"/>
              </a:rPr>
              <a:t>https://pmc.ncbi.nlm.nih.gov/articles/PMC10269390/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[3] </a:t>
            </a:r>
            <a:r>
              <a:rPr lang="fr-FR" dirty="0">
                <a:hlinkClick r:id="rId5"/>
              </a:rPr>
              <a:t>https://saphaltaincancercare.com/services/immunotherapy-cost-in-india/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[4] </a:t>
            </a:r>
            <a:r>
              <a:rPr lang="fr-FR" dirty="0">
                <a:hlinkClick r:id="rId6"/>
              </a:rPr>
              <a:t>https://drvikeshshah.com/immunotherapy-cost-in-india/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[5]</a:t>
            </a:r>
            <a:r>
              <a:rPr lang="fr-FR" sz="1200" dirty="0">
                <a:solidFill>
                  <a:srgbClr val="7030A0"/>
                </a:solidFill>
              </a:rPr>
              <a:t> </a:t>
            </a:r>
            <a:r>
              <a:rPr lang="fr-FR" sz="1200" dirty="0">
                <a:solidFill>
                  <a:srgbClr val="7030A0"/>
                </a:solidFill>
                <a:hlinkClick r:id="rId7"/>
              </a:rPr>
              <a:t>https://mohfw.gov.in/?q=hi/node/7911</a:t>
            </a:r>
            <a:endParaRPr lang="fr-FR" sz="1200" dirty="0">
              <a:solidFill>
                <a:srgbClr val="7030A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[6] </a:t>
            </a:r>
            <a:r>
              <a:rPr lang="fr-FR" dirty="0">
                <a:hlinkClick r:id="rId8"/>
              </a:rPr>
              <a:t>https://thecancernews.org/immune-checkpoint-inhibitors/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[7] </a:t>
            </a:r>
            <a:r>
              <a:rPr lang="fr-FR" dirty="0">
                <a:hlinkClick r:id="rId9"/>
              </a:rPr>
              <a:t>https://www.esmo.org/newsroom/press-and-media-hub/esmo-media-releases/studies-show-immunotherapy-improves-long-term-survival-in-growing-number-of-cancers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[8] </a:t>
            </a:r>
            <a:r>
              <a:rPr lang="fr-FR" dirty="0">
                <a:hlinkClick r:id="rId10"/>
              </a:rPr>
              <a:t>https://youtube.com/shorts/QOeuSoxQ0DI?si=Y9pPCMm0sLq18TVP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[9] </a:t>
            </a:r>
            <a:r>
              <a:rPr lang="fr-FR" dirty="0">
                <a:hlinkClick r:id="rId11"/>
              </a:rPr>
              <a:t>https://www.immunopaedia.org.za/clinical-cases/immunotherapy/keep-up-while-the-storm-is-raging/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[10] </a:t>
            </a:r>
            <a:r>
              <a:rPr lang="fr-FR" dirty="0">
                <a:hlinkClick r:id="rId12"/>
              </a:rPr>
              <a:t>https://my.clevelandclinic.org/health/treatments/11582-immunotherapy</a:t>
            </a:r>
            <a:endParaRPr lang="fr-FR" dirty="0"/>
          </a:p>
          <a:p>
            <a:pPr marL="0" indent="0"/>
            <a:endParaRPr kumimoji="0" lang="fr-F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kumimoji="0" lang="fr-F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sp>
        <p:nvSpPr>
          <p:cNvPr id="2" name="Google Shape;785;p38"/>
          <p:cNvSpPr txBox="1"/>
          <p:nvPr/>
        </p:nvSpPr>
        <p:spPr>
          <a:xfrm>
            <a:off x="7773176" y="4358098"/>
            <a:ext cx="981408" cy="521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sz="1800" dirty="0">
                <a:solidFill>
                  <a:schemeClr val="tx1"/>
                </a:solidFill>
              </a:rPr>
              <a:t>23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49;p70"/>
          <p:cNvSpPr txBox="1"/>
          <p:nvPr/>
        </p:nvSpPr>
        <p:spPr>
          <a:xfrm>
            <a:off x="1867301" y="1734952"/>
            <a:ext cx="4802023" cy="167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lory"/>
              <a:buNone/>
              <a:defRPr sz="30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lory"/>
              <a:buNone/>
              <a:defRPr sz="3500" b="1" i="0" u="none" strike="noStrike" cap="none">
                <a:solidFill>
                  <a:schemeClr val="dk1"/>
                </a:solidFill>
                <a:latin typeface="Glory"/>
                <a:ea typeface="Glory"/>
                <a:cs typeface="Glory"/>
                <a:sym typeface="Glory"/>
              </a:defRPr>
            </a:lvl9pPr>
          </a:lstStyle>
          <a:p>
            <a:pPr algn="r"/>
            <a:r>
              <a:rPr lang="en-US" sz="11500" dirty="0"/>
              <a:t>Thanks!</a:t>
            </a:r>
          </a:p>
        </p:txBody>
      </p:sp>
      <p:sp>
        <p:nvSpPr>
          <p:cNvPr id="5" name="Google Shape;1350;p70"/>
          <p:cNvSpPr txBox="1"/>
          <p:nvPr/>
        </p:nvSpPr>
        <p:spPr>
          <a:xfrm>
            <a:off x="2307850" y="22878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/>
            <a:endParaRPr lang="en-US" b="1" dirty="0"/>
          </a:p>
        </p:txBody>
      </p:sp>
      <p:pic>
        <p:nvPicPr>
          <p:cNvPr id="7" name="Google Shape;1365;p7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189200" y="847257"/>
            <a:ext cx="840702" cy="3448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65;p7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14098" y="847257"/>
            <a:ext cx="840702" cy="3448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atomy &amp; Physiology by Slidesgo">
  <a:themeElements>
    <a:clrScheme name="Simple Light">
      <a:dk1>
        <a:srgbClr val="FFFFFF"/>
      </a:dk1>
      <a:lt1>
        <a:srgbClr val="001A3F"/>
      </a:lt1>
      <a:dk2>
        <a:srgbClr val="114B86"/>
      </a:dk2>
      <a:lt2>
        <a:srgbClr val="2161B8"/>
      </a:lt2>
      <a:accent1>
        <a:srgbClr val="00FCF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1250</Words>
  <Application>Microsoft Office PowerPoint</Application>
  <PresentationFormat>On-screen Show (16:9)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Cairo</vt:lpstr>
      <vt:lpstr>Cairo Light</vt:lpstr>
      <vt:lpstr>fkGroteskNeue</vt:lpstr>
      <vt:lpstr>Montserrat</vt:lpstr>
      <vt:lpstr>Nunito Light</vt:lpstr>
      <vt:lpstr>Glory</vt:lpstr>
      <vt:lpstr>PT Sans</vt:lpstr>
      <vt:lpstr>Anaheim</vt:lpstr>
      <vt:lpstr>Times New Roman</vt:lpstr>
      <vt:lpstr>Glory SemiBold</vt:lpstr>
      <vt:lpstr>Urbanist Medium</vt:lpstr>
      <vt:lpstr>Anatomy &amp; Physiology by Slidesgo</vt:lpstr>
      <vt:lpstr>Cancer Immunotherapy  (A case study from unit-6)</vt:lpstr>
      <vt:lpstr>Table of contents</vt:lpstr>
      <vt:lpstr>Introduction to Cancer Immunotherapy</vt:lpstr>
      <vt:lpstr>"Unleashing the Body’s Warriors: The Power of Cancer Immunotherapy" </vt:lpstr>
      <vt:lpstr>Traditional treatment vs Cancer Immunotheraphy </vt:lpstr>
      <vt:lpstr>Case study and brief explanation </vt:lpstr>
      <vt:lpstr>Types Of Immunotherapy</vt:lpstr>
      <vt:lpstr>Types Of Immunotheraphy</vt:lpstr>
      <vt:lpstr>Case Study</vt:lpstr>
      <vt:lpstr>Case Study Cancer Immunotheraphy</vt:lpstr>
      <vt:lpstr>Timeline &amp; Literature review</vt:lpstr>
      <vt:lpstr>Timeline upon development of Immunotherapy</vt:lpstr>
      <vt:lpstr>Statistics </vt:lpstr>
      <vt:lpstr>3,95,400</vt:lpstr>
      <vt:lpstr>PowerPoint Presentation</vt:lpstr>
      <vt:lpstr>Let’s use some percentages</vt:lpstr>
      <vt:lpstr>PowerPoint Presentation</vt:lpstr>
      <vt:lpstr>PowerPoint Presentation</vt:lpstr>
      <vt:lpstr>Conclusion</vt:lpstr>
      <vt:lpstr>PowerPoint Presentation</vt:lpstr>
      <vt:lpstr>Bibliography </vt:lpstr>
      <vt:lpstr>Bibliography</vt:lpstr>
      <vt:lpstr>Bibliography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Nishant Parwani</cp:lastModifiedBy>
  <cp:revision>21</cp:revision>
  <dcterms:created xsi:type="dcterms:W3CDTF">2025-03-12T03:41:12Z</dcterms:created>
  <dcterms:modified xsi:type="dcterms:W3CDTF">2026-02-23T16:45:16Z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564B34F54F9143E9A667D1E24422FF45_12</vt:lpwstr>
  </property>
  <property fmtid="{D5CDD505-2E9C-101B-9397-08002B2CF9AE}" pid="3" name="KSOProductBuildVer">
    <vt:lpwstr>1033-12.2.0.20326</vt:lpwstr>
  </property>
</Properties>
</file>